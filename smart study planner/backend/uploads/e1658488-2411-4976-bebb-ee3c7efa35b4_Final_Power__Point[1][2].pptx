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8" r:id="rId2"/>
    <p:sldId id="259" r:id="rId3"/>
    <p:sldId id="294" r:id="rId4"/>
    <p:sldId id="261" r:id="rId5"/>
    <p:sldId id="276" r:id="rId6"/>
    <p:sldId id="296" r:id="rId7"/>
    <p:sldId id="280" r:id="rId8"/>
    <p:sldId id="295" r:id="rId9"/>
    <p:sldId id="317" r:id="rId10"/>
    <p:sldId id="297" r:id="rId11"/>
    <p:sldId id="298" r:id="rId12"/>
    <p:sldId id="281" r:id="rId13"/>
    <p:sldId id="299" r:id="rId14"/>
    <p:sldId id="283" r:id="rId15"/>
    <p:sldId id="300" r:id="rId16"/>
    <p:sldId id="301" r:id="rId17"/>
    <p:sldId id="302" r:id="rId18"/>
    <p:sldId id="303" r:id="rId19"/>
    <p:sldId id="282" r:id="rId20"/>
    <p:sldId id="304" r:id="rId21"/>
    <p:sldId id="274" r:id="rId22"/>
    <p:sldId id="305" r:id="rId23"/>
    <p:sldId id="306" r:id="rId24"/>
    <p:sldId id="308" r:id="rId25"/>
    <p:sldId id="309" r:id="rId26"/>
    <p:sldId id="310" r:id="rId27"/>
    <p:sldId id="312" r:id="rId28"/>
    <p:sldId id="313" r:id="rId29"/>
    <p:sldId id="319" r:id="rId30"/>
    <p:sldId id="320" r:id="rId31"/>
    <p:sldId id="321" r:id="rId32"/>
    <p:sldId id="322" r:id="rId33"/>
    <p:sldId id="323" r:id="rId34"/>
    <p:sldId id="324" r:id="rId35"/>
    <p:sldId id="325" r:id="rId36"/>
    <p:sldId id="327" r:id="rId37"/>
    <p:sldId id="293" r:id="rId38"/>
    <p:sldId id="284" r:id="rId39"/>
    <p:sldId id="314" r:id="rId40"/>
    <p:sldId id="315" r:id="rId41"/>
    <p:sldId id="316" r:id="rId42"/>
    <p:sldId id="285" r:id="rId43"/>
    <p:sldId id="318" r:id="rId44"/>
    <p:sldId id="286" r:id="rId45"/>
    <p:sldId id="265" r:id="rId46"/>
    <p:sldId id="266" r:id="rId47"/>
    <p:sldId id="288" r:id="rId48"/>
    <p:sldId id="289" r:id="rId49"/>
    <p:sldId id="290" r:id="rId50"/>
    <p:sldId id="267"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30498B-1EBF-4329-8228-9BEC80C4CD9E}" v="1" dt="2024-05-29T05:26:26.1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2418" autoAdjust="0"/>
  </p:normalViewPr>
  <p:slideViewPr>
    <p:cSldViewPr>
      <p:cViewPr varScale="1">
        <p:scale>
          <a:sx n="76" d="100"/>
          <a:sy n="76" d="100"/>
        </p:scale>
        <p:origin x="1685"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PAVAN KVRN" userId="6586d2153d77360a" providerId="LiveId" clId="{7B30498B-1EBF-4329-8228-9BEC80C4CD9E}"/>
    <pc:docChg chg="custSel modSld">
      <pc:chgData name="SAIPAVAN KVRN" userId="6586d2153d77360a" providerId="LiveId" clId="{7B30498B-1EBF-4329-8228-9BEC80C4CD9E}" dt="2024-05-29T05:26:34.372" v="31" actId="14100"/>
      <pc:docMkLst>
        <pc:docMk/>
      </pc:docMkLst>
      <pc:sldChg chg="addSp modSp mod">
        <pc:chgData name="SAIPAVAN KVRN" userId="6586d2153d77360a" providerId="LiveId" clId="{7B30498B-1EBF-4329-8228-9BEC80C4CD9E}" dt="2024-05-29T05:26:34.372" v="31" actId="14100"/>
        <pc:sldMkLst>
          <pc:docMk/>
          <pc:sldMk cId="0" sldId="288"/>
        </pc:sldMkLst>
        <pc:spChg chg="mod">
          <ac:chgData name="SAIPAVAN KVRN" userId="6586d2153d77360a" providerId="LiveId" clId="{7B30498B-1EBF-4329-8228-9BEC80C4CD9E}" dt="2024-05-29T05:26:26.256" v="1" actId="27636"/>
          <ac:spMkLst>
            <pc:docMk/>
            <pc:sldMk cId="0" sldId="288"/>
            <ac:spMk id="6" creationId="{58BB490F-1194-48F2-81CF-E3569579725F}"/>
          </ac:spMkLst>
        </pc:spChg>
        <pc:picChg chg="add mod">
          <ac:chgData name="SAIPAVAN KVRN" userId="6586d2153d77360a" providerId="LiveId" clId="{7B30498B-1EBF-4329-8228-9BEC80C4CD9E}" dt="2024-05-29T05:26:34.372" v="31" actId="14100"/>
          <ac:picMkLst>
            <pc:docMk/>
            <pc:sldMk cId="0" sldId="288"/>
            <ac:picMk id="3" creationId="{35FCF5AE-4E13-2DAC-621B-9471BCE73006}"/>
          </ac:picMkLst>
        </pc:picChg>
      </pc:sldChg>
      <pc:sldChg chg="modNotes">
        <pc:chgData name="SAIPAVAN KVRN" userId="6586d2153d77360a" providerId="LiveId" clId="{7B30498B-1EBF-4329-8228-9BEC80C4CD9E}" dt="2024-05-29T05:26:26.383" v="2" actId="27636"/>
        <pc:sldMkLst>
          <pc:docMk/>
          <pc:sldMk cId="2163974624" sldId="32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7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1048672"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68B7C9-2408-499C-AA37-90F6D35007D5}" type="datetimeFigureOut">
              <a:rPr lang="en-US" smtClean="0"/>
              <a:t>5/29/2024</a:t>
            </a:fld>
            <a:endParaRPr lang="en-US" dirty="0"/>
          </a:p>
        </p:txBody>
      </p:sp>
      <p:sp>
        <p:nvSpPr>
          <p:cNvPr id="1048673"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4867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5"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1048676"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53524F-5E8F-4218-BFDB-47CA708776EB}"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53524F-5E8F-4218-BFDB-47CA708776EB}" type="slidenum">
              <a:rPr lang="en-US" smtClean="0"/>
              <a:t>5</a:t>
            </a:fld>
            <a:endParaRPr lang="en-US" dirty="0"/>
          </a:p>
        </p:txBody>
      </p:sp>
    </p:spTree>
    <p:extLst>
      <p:ext uri="{BB962C8B-B14F-4D97-AF65-F5344CB8AC3E}">
        <p14:creationId xmlns:p14="http://schemas.microsoft.com/office/powerpoint/2010/main" val="4288652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if(</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response.indexOf</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expected_answer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 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answer = 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}while((answer == 0) &amp;&amp;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millis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previous) &lt; timeout));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Serial.println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(response);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return answer;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//AT+CFUN=1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//AT+CGATT=1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//AT+SAPBR=3,1,"Contype","GPRS"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//AT+SAPBR=3,1,"APN","internet"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//AT+SAPBR=1,1 if(</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response.indexOf</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expected_answer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 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answer = 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}while((answer == 0) &amp;&amp;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millis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previous) &lt; timeout));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Serial.println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(response);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return answer;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//AT+CFUN=1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//AT+CGATT=1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//AT+SAPBR=3,1,"Contype","GPRS"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//AT+SAPBR=3,1,"APN","internet"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//AT+SAPBR=1,1 if(</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response.indexOf</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expected_answer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 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answer = 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}while((answer == 0) &amp;&amp;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millis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previous) &lt; timeout));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Serial.println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(response);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return answer;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//AT+CFUN=1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//AT+CGATT=1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//AT+SAPBR=3,1,"Contype","GPRS"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//AT+SAPBR=3,1,"APN","internet"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//AT+SAPBR=1,1</a:t>
            </a:r>
            <a:endParaRPr lang="en-IN" dirty="0"/>
          </a:p>
        </p:txBody>
      </p:sp>
      <p:sp>
        <p:nvSpPr>
          <p:cNvPr id="4" name="Slide Number Placeholder 3"/>
          <p:cNvSpPr>
            <a:spLocks noGrp="1"/>
          </p:cNvSpPr>
          <p:nvPr>
            <p:ph type="sldNum" sz="quarter" idx="5"/>
          </p:nvPr>
        </p:nvSpPr>
        <p:spPr/>
        <p:txBody>
          <a:bodyPr/>
          <a:lstStyle/>
          <a:p>
            <a:fld id="{C053524F-5E8F-4218-BFDB-47CA708776EB}" type="slidenum">
              <a:rPr lang="en-US" smtClean="0"/>
              <a:t>36</a:t>
            </a:fld>
            <a:endParaRPr lang="en-US" dirty="0"/>
          </a:p>
        </p:txBody>
      </p:sp>
    </p:spTree>
    <p:extLst>
      <p:ext uri="{BB962C8B-B14F-4D97-AF65-F5344CB8AC3E}">
        <p14:creationId xmlns:p14="http://schemas.microsoft.com/office/powerpoint/2010/main" val="3860740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44"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645"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646" name="Date Placeholder 3"/>
          <p:cNvSpPr>
            <a:spLocks noGrp="1"/>
          </p:cNvSpPr>
          <p:nvPr>
            <p:ph type="dt" sz="half" idx="10"/>
          </p:nvPr>
        </p:nvSpPr>
        <p:spPr/>
        <p:txBody>
          <a:bodyPr/>
          <a:lstStyle/>
          <a:p>
            <a:fld id="{1D8BD707-D9CF-40AE-B4C6-C98DA3205C09}" type="datetimeFigureOut">
              <a:rPr lang="en-US" smtClean="0"/>
              <a:t>5/29/2024</a:t>
            </a:fld>
            <a:endParaRPr lang="en-US" dirty="0"/>
          </a:p>
        </p:txBody>
      </p:sp>
      <p:sp>
        <p:nvSpPr>
          <p:cNvPr id="1048647" name="Footer Placeholder 4"/>
          <p:cNvSpPr>
            <a:spLocks noGrp="1"/>
          </p:cNvSpPr>
          <p:nvPr>
            <p:ph type="ftr" sz="quarter" idx="11"/>
          </p:nvPr>
        </p:nvSpPr>
        <p:spPr/>
        <p:txBody>
          <a:bodyPr/>
          <a:lstStyle/>
          <a:p>
            <a:endParaRPr lang="en-US" dirty="0"/>
          </a:p>
        </p:txBody>
      </p:sp>
      <p:sp>
        <p:nvSpPr>
          <p:cNvPr id="1048648"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30" name="Title 1"/>
          <p:cNvSpPr>
            <a:spLocks noGrp="1"/>
          </p:cNvSpPr>
          <p:nvPr>
            <p:ph type="title"/>
          </p:nvPr>
        </p:nvSpPr>
        <p:spPr/>
        <p:txBody>
          <a:bodyPr/>
          <a:lstStyle/>
          <a:p>
            <a:r>
              <a:rPr lang="en-US"/>
              <a:t>Click to edit Master title style</a:t>
            </a:r>
          </a:p>
        </p:txBody>
      </p:sp>
      <p:sp>
        <p:nvSpPr>
          <p:cNvPr id="104863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2" name="Date Placeholder 3"/>
          <p:cNvSpPr>
            <a:spLocks noGrp="1"/>
          </p:cNvSpPr>
          <p:nvPr>
            <p:ph type="dt" sz="half" idx="10"/>
          </p:nvPr>
        </p:nvSpPr>
        <p:spPr/>
        <p:txBody>
          <a:bodyPr/>
          <a:lstStyle/>
          <a:p>
            <a:fld id="{1D8BD707-D9CF-40AE-B4C6-C98DA3205C09}" type="datetimeFigureOut">
              <a:rPr lang="en-US" smtClean="0"/>
              <a:t>5/29/2024</a:t>
            </a:fld>
            <a:endParaRPr lang="en-US" dirty="0"/>
          </a:p>
        </p:txBody>
      </p:sp>
      <p:sp>
        <p:nvSpPr>
          <p:cNvPr id="1048633" name="Footer Placeholder 4"/>
          <p:cNvSpPr>
            <a:spLocks noGrp="1"/>
          </p:cNvSpPr>
          <p:nvPr>
            <p:ph type="ftr" sz="quarter" idx="11"/>
          </p:nvPr>
        </p:nvSpPr>
        <p:spPr/>
        <p:txBody>
          <a:bodyPr/>
          <a:lstStyle/>
          <a:p>
            <a:endParaRPr lang="en-US" dirty="0"/>
          </a:p>
        </p:txBody>
      </p:sp>
      <p:sp>
        <p:nvSpPr>
          <p:cNvPr id="1048634"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55"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56"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57" name="Date Placeholder 3"/>
          <p:cNvSpPr>
            <a:spLocks noGrp="1"/>
          </p:cNvSpPr>
          <p:nvPr>
            <p:ph type="dt" sz="half" idx="10"/>
          </p:nvPr>
        </p:nvSpPr>
        <p:spPr/>
        <p:txBody>
          <a:bodyPr/>
          <a:lstStyle/>
          <a:p>
            <a:fld id="{1D8BD707-D9CF-40AE-B4C6-C98DA3205C09}" type="datetimeFigureOut">
              <a:rPr lang="en-US" smtClean="0"/>
              <a:t>5/29/2024</a:t>
            </a:fld>
            <a:endParaRPr lang="en-US" dirty="0"/>
          </a:p>
        </p:txBody>
      </p:sp>
      <p:sp>
        <p:nvSpPr>
          <p:cNvPr id="1048658" name="Footer Placeholder 4"/>
          <p:cNvSpPr>
            <a:spLocks noGrp="1"/>
          </p:cNvSpPr>
          <p:nvPr>
            <p:ph type="ftr" sz="quarter" idx="11"/>
          </p:nvPr>
        </p:nvSpPr>
        <p:spPr/>
        <p:txBody>
          <a:bodyPr/>
          <a:lstStyle/>
          <a:p>
            <a:endParaRPr lang="en-US" dirty="0"/>
          </a:p>
        </p:txBody>
      </p:sp>
      <p:sp>
        <p:nvSpPr>
          <p:cNvPr id="1048659"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16" name="Title 1"/>
          <p:cNvSpPr>
            <a:spLocks noGrp="1"/>
          </p:cNvSpPr>
          <p:nvPr>
            <p:ph type="title"/>
          </p:nvPr>
        </p:nvSpPr>
        <p:spPr/>
        <p:txBody>
          <a:bodyPr/>
          <a:lstStyle/>
          <a:p>
            <a:r>
              <a:rPr lang="en-US"/>
              <a:t>Click to edit Master title style</a:t>
            </a:r>
          </a:p>
        </p:txBody>
      </p:sp>
      <p:sp>
        <p:nvSpPr>
          <p:cNvPr id="1048617"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8"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9" name="Date Placeholder 4"/>
          <p:cNvSpPr>
            <a:spLocks noGrp="1"/>
          </p:cNvSpPr>
          <p:nvPr>
            <p:ph type="dt" sz="half" idx="10"/>
          </p:nvPr>
        </p:nvSpPr>
        <p:spPr/>
        <p:txBody>
          <a:bodyPr/>
          <a:lstStyle/>
          <a:p>
            <a:fld id="{1D8BD707-D9CF-40AE-B4C6-C98DA3205C09}" type="datetimeFigureOut">
              <a:rPr lang="en-US" smtClean="0"/>
              <a:t>5/29/2024</a:t>
            </a:fld>
            <a:endParaRPr lang="en-US" dirty="0"/>
          </a:p>
        </p:txBody>
      </p:sp>
      <p:sp>
        <p:nvSpPr>
          <p:cNvPr id="1048620" name="Footer Placeholder 5"/>
          <p:cNvSpPr>
            <a:spLocks noGrp="1"/>
          </p:cNvSpPr>
          <p:nvPr>
            <p:ph type="ftr" sz="quarter" idx="11"/>
          </p:nvPr>
        </p:nvSpPr>
        <p:spPr/>
        <p:txBody>
          <a:bodyPr/>
          <a:lstStyle/>
          <a:p>
            <a:endParaRPr lang="en-US" dirty="0"/>
          </a:p>
        </p:txBody>
      </p:sp>
      <p:sp>
        <p:nvSpPr>
          <p:cNvPr id="1048621"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22" name="Title 1"/>
          <p:cNvSpPr>
            <a:spLocks noGrp="1"/>
          </p:cNvSpPr>
          <p:nvPr>
            <p:ph type="title"/>
          </p:nvPr>
        </p:nvSpPr>
        <p:spPr/>
        <p:txBody>
          <a:bodyPr/>
          <a:lstStyle/>
          <a:p>
            <a:r>
              <a:rPr lang="en-US"/>
              <a:t>Click to edit Master title style</a:t>
            </a:r>
          </a:p>
        </p:txBody>
      </p:sp>
      <p:sp>
        <p:nvSpPr>
          <p:cNvPr id="104862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2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2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7" name="Date Placeholder 6"/>
          <p:cNvSpPr>
            <a:spLocks noGrp="1"/>
          </p:cNvSpPr>
          <p:nvPr>
            <p:ph type="dt" sz="half" idx="10"/>
          </p:nvPr>
        </p:nvSpPr>
        <p:spPr/>
        <p:txBody>
          <a:bodyPr/>
          <a:lstStyle/>
          <a:p>
            <a:fld id="{1D8BD707-D9CF-40AE-B4C6-C98DA3205C09}" type="datetimeFigureOut">
              <a:rPr lang="en-US" smtClean="0"/>
              <a:t>5/29/2024</a:t>
            </a:fld>
            <a:endParaRPr lang="en-US" dirty="0"/>
          </a:p>
        </p:txBody>
      </p:sp>
      <p:sp>
        <p:nvSpPr>
          <p:cNvPr id="1048628" name="Footer Placeholder 7"/>
          <p:cNvSpPr>
            <a:spLocks noGrp="1"/>
          </p:cNvSpPr>
          <p:nvPr>
            <p:ph type="ftr" sz="quarter" idx="11"/>
          </p:nvPr>
        </p:nvSpPr>
        <p:spPr/>
        <p:txBody>
          <a:bodyPr/>
          <a:lstStyle/>
          <a:p>
            <a:endParaRPr lang="en-US" dirty="0"/>
          </a:p>
        </p:txBody>
      </p:sp>
      <p:sp>
        <p:nvSpPr>
          <p:cNvPr id="1048629" name="Slide Number Placeholder 8"/>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35" name="Title 1"/>
          <p:cNvSpPr>
            <a:spLocks noGrp="1"/>
          </p:cNvSpPr>
          <p:nvPr>
            <p:ph type="title"/>
          </p:nvPr>
        </p:nvSpPr>
        <p:spPr/>
        <p:txBody>
          <a:bodyPr/>
          <a:lstStyle/>
          <a:p>
            <a:r>
              <a:rPr lang="en-US"/>
              <a:t>Click to edit Master title style</a:t>
            </a:r>
          </a:p>
        </p:txBody>
      </p:sp>
      <p:sp>
        <p:nvSpPr>
          <p:cNvPr id="1048636" name="Date Placeholder 2"/>
          <p:cNvSpPr>
            <a:spLocks noGrp="1"/>
          </p:cNvSpPr>
          <p:nvPr>
            <p:ph type="dt" sz="half" idx="10"/>
          </p:nvPr>
        </p:nvSpPr>
        <p:spPr/>
        <p:txBody>
          <a:bodyPr/>
          <a:lstStyle/>
          <a:p>
            <a:fld id="{1D8BD707-D9CF-40AE-B4C6-C98DA3205C09}" type="datetimeFigureOut">
              <a:rPr lang="en-US" smtClean="0"/>
              <a:t>5/29/2024</a:t>
            </a:fld>
            <a:endParaRPr lang="en-US" dirty="0"/>
          </a:p>
        </p:txBody>
      </p:sp>
      <p:sp>
        <p:nvSpPr>
          <p:cNvPr id="1048637" name="Footer Placeholder 3"/>
          <p:cNvSpPr>
            <a:spLocks noGrp="1"/>
          </p:cNvSpPr>
          <p:nvPr>
            <p:ph type="ftr" sz="quarter" idx="11"/>
          </p:nvPr>
        </p:nvSpPr>
        <p:spPr/>
        <p:txBody>
          <a:bodyPr/>
          <a:lstStyle/>
          <a:p>
            <a:endParaRPr lang="en-US" dirty="0"/>
          </a:p>
        </p:txBody>
      </p:sp>
      <p:sp>
        <p:nvSpPr>
          <p:cNvPr id="1048638" name="Slide Number Placeholder 4"/>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81" name="Date Placeholder 1"/>
          <p:cNvSpPr>
            <a:spLocks noGrp="1"/>
          </p:cNvSpPr>
          <p:nvPr>
            <p:ph type="dt" sz="half" idx="10"/>
          </p:nvPr>
        </p:nvSpPr>
        <p:spPr/>
        <p:txBody>
          <a:bodyPr/>
          <a:lstStyle/>
          <a:p>
            <a:fld id="{1D8BD707-D9CF-40AE-B4C6-C98DA3205C09}" type="datetimeFigureOut">
              <a:rPr lang="en-US" smtClean="0"/>
              <a:t>5/29/2024</a:t>
            </a:fld>
            <a:endParaRPr lang="en-US" dirty="0"/>
          </a:p>
        </p:txBody>
      </p:sp>
      <p:sp>
        <p:nvSpPr>
          <p:cNvPr id="1048582" name="Footer Placeholder 2"/>
          <p:cNvSpPr>
            <a:spLocks noGrp="1"/>
          </p:cNvSpPr>
          <p:nvPr>
            <p:ph type="ftr" sz="quarter" idx="11"/>
          </p:nvPr>
        </p:nvSpPr>
        <p:spPr/>
        <p:txBody>
          <a:bodyPr/>
          <a:lstStyle/>
          <a:p>
            <a:endParaRPr lang="en-US" dirty="0"/>
          </a:p>
        </p:txBody>
      </p:sp>
      <p:sp>
        <p:nvSpPr>
          <p:cNvPr id="1048583" name="Slide Number Placeholder 3"/>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65"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666"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7"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68" name="Date Placeholder 4"/>
          <p:cNvSpPr>
            <a:spLocks noGrp="1"/>
          </p:cNvSpPr>
          <p:nvPr>
            <p:ph type="dt" sz="half" idx="10"/>
          </p:nvPr>
        </p:nvSpPr>
        <p:spPr/>
        <p:txBody>
          <a:bodyPr/>
          <a:lstStyle/>
          <a:p>
            <a:fld id="{1D8BD707-D9CF-40AE-B4C6-C98DA3205C09}" type="datetimeFigureOut">
              <a:rPr lang="en-US" smtClean="0"/>
              <a:t>5/29/2024</a:t>
            </a:fld>
            <a:endParaRPr lang="en-US" dirty="0"/>
          </a:p>
        </p:txBody>
      </p:sp>
      <p:sp>
        <p:nvSpPr>
          <p:cNvPr id="1048669" name="Footer Placeholder 5"/>
          <p:cNvSpPr>
            <a:spLocks noGrp="1"/>
          </p:cNvSpPr>
          <p:nvPr>
            <p:ph type="ftr" sz="quarter" idx="11"/>
          </p:nvPr>
        </p:nvSpPr>
        <p:spPr/>
        <p:txBody>
          <a:bodyPr/>
          <a:lstStyle/>
          <a:p>
            <a:endParaRPr lang="en-US" dirty="0"/>
          </a:p>
        </p:txBody>
      </p:sp>
      <p:sp>
        <p:nvSpPr>
          <p:cNvPr id="1048670"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49"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50"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048651"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52" name="Date Placeholder 4"/>
          <p:cNvSpPr>
            <a:spLocks noGrp="1"/>
          </p:cNvSpPr>
          <p:nvPr>
            <p:ph type="dt" sz="half" idx="10"/>
          </p:nvPr>
        </p:nvSpPr>
        <p:spPr/>
        <p:txBody>
          <a:bodyPr/>
          <a:lstStyle/>
          <a:p>
            <a:fld id="{1D8BD707-D9CF-40AE-B4C6-C98DA3205C09}" type="datetimeFigureOut">
              <a:rPr lang="en-US" smtClean="0"/>
              <a:t>5/29/2024</a:t>
            </a:fld>
            <a:endParaRPr lang="en-US" dirty="0"/>
          </a:p>
        </p:txBody>
      </p:sp>
      <p:sp>
        <p:nvSpPr>
          <p:cNvPr id="1048653" name="Footer Placeholder 5"/>
          <p:cNvSpPr>
            <a:spLocks noGrp="1"/>
          </p:cNvSpPr>
          <p:nvPr>
            <p:ph type="ftr" sz="quarter" idx="11"/>
          </p:nvPr>
        </p:nvSpPr>
        <p:spPr/>
        <p:txBody>
          <a:bodyPr/>
          <a:lstStyle/>
          <a:p>
            <a:endParaRPr lang="en-US" dirty="0"/>
          </a:p>
        </p:txBody>
      </p:sp>
      <p:sp>
        <p:nvSpPr>
          <p:cNvPr id="1048654"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60" name="Title 1"/>
          <p:cNvSpPr>
            <a:spLocks noGrp="1"/>
          </p:cNvSpPr>
          <p:nvPr>
            <p:ph type="title"/>
          </p:nvPr>
        </p:nvSpPr>
        <p:spPr/>
        <p:txBody>
          <a:bodyPr/>
          <a:lstStyle/>
          <a:p>
            <a:r>
              <a:rPr lang="en-US"/>
              <a:t>Click to edit Master title style</a:t>
            </a:r>
          </a:p>
        </p:txBody>
      </p:sp>
      <p:sp>
        <p:nvSpPr>
          <p:cNvPr id="1048661"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2" name="Date Placeholder 3"/>
          <p:cNvSpPr>
            <a:spLocks noGrp="1"/>
          </p:cNvSpPr>
          <p:nvPr>
            <p:ph type="dt" sz="half" idx="10"/>
          </p:nvPr>
        </p:nvSpPr>
        <p:spPr/>
        <p:txBody>
          <a:bodyPr/>
          <a:lstStyle/>
          <a:p>
            <a:fld id="{1D8BD707-D9CF-40AE-B4C6-C98DA3205C09}" type="datetimeFigureOut">
              <a:rPr lang="en-US" smtClean="0"/>
              <a:t>5/29/2024</a:t>
            </a:fld>
            <a:endParaRPr lang="en-US" dirty="0"/>
          </a:p>
        </p:txBody>
      </p:sp>
      <p:sp>
        <p:nvSpPr>
          <p:cNvPr id="1048663" name="Footer Placeholder 4"/>
          <p:cNvSpPr>
            <a:spLocks noGrp="1"/>
          </p:cNvSpPr>
          <p:nvPr>
            <p:ph type="ftr" sz="quarter" idx="11"/>
          </p:nvPr>
        </p:nvSpPr>
        <p:spPr/>
        <p:txBody>
          <a:bodyPr/>
          <a:lstStyle/>
          <a:p>
            <a:endParaRPr lang="en-US" dirty="0"/>
          </a:p>
        </p:txBody>
      </p:sp>
      <p:sp>
        <p:nvSpPr>
          <p:cNvPr id="1048664"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39"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40"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1" name="Date Placeholder 3"/>
          <p:cNvSpPr>
            <a:spLocks noGrp="1"/>
          </p:cNvSpPr>
          <p:nvPr>
            <p:ph type="dt" sz="half" idx="10"/>
          </p:nvPr>
        </p:nvSpPr>
        <p:spPr/>
        <p:txBody>
          <a:bodyPr/>
          <a:lstStyle/>
          <a:p>
            <a:fld id="{1D8BD707-D9CF-40AE-B4C6-C98DA3205C09}" type="datetimeFigureOut">
              <a:rPr lang="en-US" smtClean="0"/>
              <a:t>5/29/2024</a:t>
            </a:fld>
            <a:endParaRPr lang="en-US" dirty="0"/>
          </a:p>
        </p:txBody>
      </p:sp>
      <p:sp>
        <p:nvSpPr>
          <p:cNvPr id="1048642" name="Footer Placeholder 4"/>
          <p:cNvSpPr>
            <a:spLocks noGrp="1"/>
          </p:cNvSpPr>
          <p:nvPr>
            <p:ph type="ftr" sz="quarter" idx="11"/>
          </p:nvPr>
        </p:nvSpPr>
        <p:spPr/>
        <p:txBody>
          <a:bodyPr/>
          <a:lstStyle/>
          <a:p>
            <a:endParaRPr lang="en-US" dirty="0"/>
          </a:p>
        </p:txBody>
      </p:sp>
      <p:sp>
        <p:nvSpPr>
          <p:cNvPr id="1048643"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5/29/2024</a:t>
            </a:fld>
            <a:endParaRPr lang="en-US" dirty="0"/>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4" name="TextBox 2"/>
          <p:cNvSpPr txBox="1"/>
          <p:nvPr/>
        </p:nvSpPr>
        <p:spPr>
          <a:xfrm>
            <a:off x="0" y="468237"/>
            <a:ext cx="6629400" cy="1754326"/>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Enhanced Locker Security </a:t>
            </a:r>
          </a:p>
          <a:p>
            <a:pPr algn="ctr"/>
            <a:r>
              <a:rPr lang="en-US" sz="2400" b="1" dirty="0">
                <a:latin typeface="Times New Roman" pitchFamily="18" charset="0"/>
                <a:cs typeface="Times New Roman" pitchFamily="18" charset="0"/>
              </a:rPr>
              <a:t>System Using Arduino    </a:t>
            </a:r>
          </a:p>
          <a:p>
            <a:pPr algn="ctr"/>
            <a:endParaRPr lang="en-US" sz="2000" dirty="0">
              <a:latin typeface="Times New Roman" pitchFamily="18" charset="0"/>
              <a:cs typeface="Times New Roman" pitchFamily="18" charset="0"/>
            </a:endParaRPr>
          </a:p>
          <a:p>
            <a:pPr algn="ctr"/>
            <a:r>
              <a:rPr lang="en-US" sz="2000" dirty="0">
                <a:latin typeface="Times New Roman" pitchFamily="18" charset="0"/>
                <a:cs typeface="Times New Roman" pitchFamily="18" charset="0"/>
              </a:rPr>
              <a:t>THEME: Public Safety</a:t>
            </a:r>
            <a:endParaRPr lang="en-US" sz="2000" b="1" dirty="0">
              <a:latin typeface="Times New Roman" pitchFamily="18" charset="0"/>
              <a:cs typeface="Times New Roman" pitchFamily="18" charset="0"/>
            </a:endParaRPr>
          </a:p>
          <a:p>
            <a:pPr algn="ctr"/>
            <a:endParaRPr lang="en-US" sz="2000" b="1" dirty="0">
              <a:latin typeface="Times New Roman" pitchFamily="18" charset="0"/>
              <a:cs typeface="Times New Roman" pitchFamily="18" charset="0"/>
            </a:endParaRPr>
          </a:p>
        </p:txBody>
      </p:sp>
      <p:sp>
        <p:nvSpPr>
          <p:cNvPr id="1048585" name="TextBox 3"/>
          <p:cNvSpPr txBox="1"/>
          <p:nvPr/>
        </p:nvSpPr>
        <p:spPr>
          <a:xfrm>
            <a:off x="685800" y="5410200"/>
            <a:ext cx="7848600" cy="1477328"/>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Vel Tech Rangarajan Dr.Sagunthala R &amp; D Institute of Science &amp; Technology</a:t>
            </a:r>
          </a:p>
          <a:p>
            <a:pPr algn="ctr"/>
            <a:r>
              <a:rPr lang="en-US" sz="2400" b="1" dirty="0">
                <a:latin typeface="Times New Roman" pitchFamily="18" charset="0"/>
                <a:cs typeface="Times New Roman" pitchFamily="18" charset="0"/>
              </a:rPr>
              <a:t>	                  </a:t>
            </a:r>
            <a:r>
              <a:rPr lang="en-US" b="1" dirty="0">
                <a:latin typeface="Times New Roman" pitchFamily="18" charset="0"/>
                <a:cs typeface="Times New Roman" pitchFamily="18" charset="0"/>
              </a:rPr>
              <a:t>        </a:t>
            </a:r>
          </a:p>
          <a:p>
            <a:r>
              <a:rPr lang="en-US" dirty="0">
                <a:latin typeface="Times New Roman" pitchFamily="18" charset="0"/>
                <a:cs typeface="Times New Roman" pitchFamily="18" charset="0"/>
              </a:rPr>
              <a:t>		</a:t>
            </a:r>
          </a:p>
        </p:txBody>
      </p:sp>
      <p:pic>
        <p:nvPicPr>
          <p:cNvPr id="2097152" name="Picture 4" descr="ECE Dept 20171206_105803.jpg"/>
          <p:cNvPicPr>
            <a:picLocks noChangeAspect="1"/>
          </p:cNvPicPr>
          <p:nvPr/>
        </p:nvPicPr>
        <p:blipFill>
          <a:blip r:embed="rId2" cstate="print"/>
          <a:stretch>
            <a:fillRect/>
          </a:stretch>
        </p:blipFill>
        <p:spPr>
          <a:xfrm>
            <a:off x="6819900" y="1610211"/>
            <a:ext cx="1447800" cy="1447800"/>
          </a:xfrm>
          <a:prstGeom prst="rect">
            <a:avLst/>
          </a:prstGeom>
        </p:spPr>
      </p:pic>
      <p:sp>
        <p:nvSpPr>
          <p:cNvPr id="1048586" name="Rectangle 5"/>
          <p:cNvSpPr/>
          <p:nvPr/>
        </p:nvSpPr>
        <p:spPr>
          <a:xfrm>
            <a:off x="533400" y="2362200"/>
            <a:ext cx="5389880" cy="2875146"/>
          </a:xfrm>
          <a:prstGeom prst="rect">
            <a:avLst/>
          </a:prstGeom>
        </p:spPr>
        <p:txBody>
          <a:bodyPr wrap="square">
            <a:spAutoFit/>
          </a:bodyPr>
          <a:lstStyle/>
          <a:p>
            <a:r>
              <a:rPr lang="en-US" sz="2000" b="1" dirty="0">
                <a:latin typeface="Times New Roman" pitchFamily="18" charset="0"/>
                <a:cs typeface="Times New Roman" pitchFamily="18" charset="0"/>
              </a:rPr>
              <a:t>By, </a:t>
            </a:r>
          </a:p>
          <a:p>
            <a:r>
              <a:rPr lang="en-US" sz="2000" b="1" dirty="0">
                <a:latin typeface="Times New Roman" pitchFamily="18" charset="0"/>
                <a:cs typeface="Times New Roman" pitchFamily="18" charset="0"/>
              </a:rPr>
              <a:t>SoC A5 -(Batch No.2) </a:t>
            </a:r>
          </a:p>
          <a:p>
            <a:r>
              <a:rPr lang="en-US" sz="2000" dirty="0">
                <a:latin typeface="Times New Roman" pitchFamily="18" charset="0"/>
                <a:cs typeface="Times New Roman" pitchFamily="18" charset="0"/>
              </a:rPr>
              <a:t>C.UDAY KUMAR  REDDY             VTU26481</a:t>
            </a:r>
          </a:p>
          <a:p>
            <a:r>
              <a:rPr lang="en-US" sz="2000" dirty="0">
                <a:latin typeface="Times New Roman" pitchFamily="18" charset="0"/>
                <a:cs typeface="Times New Roman" pitchFamily="18" charset="0"/>
              </a:rPr>
              <a:t>S.YASWANTH                                  VTU26360</a:t>
            </a:r>
          </a:p>
          <a:p>
            <a:r>
              <a:rPr lang="en-US" sz="2000" dirty="0">
                <a:latin typeface="Times New Roman" pitchFamily="18" charset="0"/>
                <a:cs typeface="Times New Roman" pitchFamily="18" charset="0"/>
              </a:rPr>
              <a:t>N.MURALI KRISHNA                     VTU25758</a:t>
            </a:r>
          </a:p>
          <a:p>
            <a:r>
              <a:rPr lang="en-US" sz="2000" dirty="0">
                <a:latin typeface="Times New Roman" pitchFamily="18" charset="0"/>
                <a:cs typeface="Times New Roman" pitchFamily="18" charset="0"/>
              </a:rPr>
              <a:t>K.GOPALA KRISHNA  REDDY      VTU26508</a:t>
            </a:r>
          </a:p>
          <a:p>
            <a:r>
              <a:rPr lang="en-US" sz="2000" dirty="0">
                <a:latin typeface="Times New Roman" pitchFamily="18" charset="0"/>
                <a:cs typeface="Times New Roman" pitchFamily="18" charset="0"/>
              </a:rPr>
              <a:t>K.SAI PAVAN                                    VTU25916</a:t>
            </a:r>
          </a:p>
          <a:p>
            <a:r>
              <a:rPr lang="en-US" sz="2000" dirty="0">
                <a:latin typeface="Times New Roman" pitchFamily="18" charset="0"/>
                <a:cs typeface="Times New Roman" pitchFamily="18" charset="0"/>
              </a:rPr>
              <a:t>K.SHIVA SHANKAR REDDY          VTU26267</a:t>
            </a:r>
          </a:p>
          <a:p>
            <a:pPr marL="12700">
              <a:lnSpc>
                <a:spcPct val="100000"/>
              </a:lnSpc>
              <a:spcBef>
                <a:spcPts val="125"/>
              </a:spcBef>
            </a:pPr>
            <a:endParaRPr lang="en-US" sz="2000" dirty="0">
              <a:latin typeface="Times New Roman"/>
              <a:cs typeface="Times New Roman"/>
            </a:endParaRPr>
          </a:p>
        </p:txBody>
      </p:sp>
      <p:sp>
        <p:nvSpPr>
          <p:cNvPr id="1048587" name="TextBox 6"/>
          <p:cNvSpPr txBox="1"/>
          <p:nvPr/>
        </p:nvSpPr>
        <p:spPr>
          <a:xfrm>
            <a:off x="6477000" y="3379112"/>
            <a:ext cx="2667000" cy="1846659"/>
          </a:xfrm>
          <a:prstGeom prst="rect">
            <a:avLst/>
          </a:prstGeom>
          <a:noFill/>
        </p:spPr>
        <p:txBody>
          <a:bodyPr wrap="square" rtlCol="0">
            <a:spAutoFit/>
          </a:bodyPr>
          <a:lstStyle/>
          <a:p>
            <a:r>
              <a:rPr lang="en-US" sz="2000" dirty="0">
                <a:latin typeface="Times New Roman" pitchFamily="18" charset="0"/>
                <a:cs typeface="Times New Roman" pitchFamily="18" charset="0"/>
              </a:rPr>
              <a:t>Guided by,</a:t>
            </a:r>
          </a:p>
          <a:p>
            <a:r>
              <a:rPr lang="en-US" sz="2000" b="1" dirty="0">
                <a:latin typeface="Times New Roman" pitchFamily="18" charset="0"/>
                <a:cs typeface="Times New Roman" pitchFamily="18" charset="0"/>
              </a:rPr>
              <a:t>Priscilla Whitin</a:t>
            </a:r>
          </a:p>
          <a:p>
            <a:r>
              <a:rPr lang="en-US" sz="2000" dirty="0">
                <a:latin typeface="Times New Roman" pitchFamily="18" charset="0"/>
                <a:cs typeface="Times New Roman" pitchFamily="18" charset="0"/>
              </a:rPr>
              <a:t>Asst prof / EEE </a:t>
            </a:r>
          </a:p>
          <a:p>
            <a:r>
              <a:rPr lang="en-US" sz="2000" b="1" dirty="0">
                <a:latin typeface="Times New Roman" pitchFamily="18" charset="0"/>
                <a:cs typeface="Times New Roman" pitchFamily="18" charset="0"/>
              </a:rPr>
              <a:t>M . Karthick</a:t>
            </a:r>
          </a:p>
          <a:p>
            <a:r>
              <a:rPr lang="en-US" sz="2000" dirty="0">
                <a:latin typeface="Times New Roman" pitchFamily="18" charset="0"/>
                <a:cs typeface="Times New Roman" pitchFamily="18" charset="0"/>
              </a:rPr>
              <a:t>Asst prof / Mech</a:t>
            </a:r>
          </a:p>
          <a:p>
            <a:endParaRPr lang="en-US" sz="1400" dirty="0">
              <a:latin typeface="Times New Roman" pitchFamily="18" charset="0"/>
              <a:cs typeface="Times New Roman" pitchFamily="18" charset="0"/>
            </a:endParaRPr>
          </a:p>
        </p:txBody>
      </p:sp>
      <p:pic>
        <p:nvPicPr>
          <p:cNvPr id="7" name="Picture 3" descr="C:\Users\admin\Desktop\CDIO photos\cdio-acridate.jpg">
            <a:extLst>
              <a:ext uri="{FF2B5EF4-FFF2-40B4-BE49-F238E27FC236}">
                <a16:creationId xmlns:a16="http://schemas.microsoft.com/office/drawing/2014/main" id="{F7728565-B8B8-4605-B5F0-19EBE0BA7098}"/>
              </a:ext>
            </a:extLst>
          </p:cNvPr>
          <p:cNvPicPr>
            <a:picLocks noChangeAspect="1" noChangeArrowheads="1"/>
          </p:cNvPicPr>
          <p:nvPr/>
        </p:nvPicPr>
        <p:blipFill>
          <a:blip r:embed="rId3" cstate="print"/>
          <a:srcRect/>
          <a:stretch>
            <a:fillRect/>
          </a:stretch>
        </p:blipFill>
        <p:spPr bwMode="auto">
          <a:xfrm>
            <a:off x="6009640" y="533400"/>
            <a:ext cx="2971800" cy="1117153"/>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TextBox 1"/>
          <p:cNvSpPr txBox="1"/>
          <p:nvPr/>
        </p:nvSpPr>
        <p:spPr>
          <a:xfrm>
            <a:off x="685800" y="685800"/>
            <a:ext cx="716280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itchFamily="18" charset="0"/>
              </a:rPr>
              <a:t>ABSTRACT : </a:t>
            </a:r>
          </a:p>
        </p:txBody>
      </p:sp>
      <p:sp>
        <p:nvSpPr>
          <p:cNvPr id="1048589" name="TextBox 3"/>
          <p:cNvSpPr txBox="1"/>
          <p:nvPr/>
        </p:nvSpPr>
        <p:spPr>
          <a:xfrm>
            <a:off x="609600" y="1295400"/>
            <a:ext cx="7848600" cy="5201424"/>
          </a:xfrm>
          <a:prstGeom prst="rect">
            <a:avLst/>
          </a:prstGeom>
          <a:noFill/>
        </p:spPr>
        <p:txBody>
          <a:bodyPr wrap="square" rtlCol="0">
            <a:spAutoFit/>
          </a:bodyPr>
          <a:lstStyle/>
          <a:p>
            <a:pPr algn="just"/>
            <a:r>
              <a:rPr lang="en-US" sz="1600" dirty="0">
                <a:latin typeface="Times New Roman" panose="02020603050405020304" pitchFamily="18" charset="0"/>
                <a:cs typeface="Times New Roman" pitchFamily="18" charset="0"/>
              </a:rPr>
              <a:t> </a:t>
            </a:r>
            <a:r>
              <a:rPr lang="en-US" sz="2000" dirty="0">
                <a:latin typeface="Times New Roman" panose="02020603050405020304" pitchFamily="18" charset="0"/>
                <a:cs typeface="Times New Roman" pitchFamily="18" charset="0"/>
              </a:rPr>
              <a:t>Security systems are essential for protecting assets, yet traditional lock-and-key mechanisms often fail to prevent unauthorized access effectively. Existing methods primarily use audible alarms or basic surveillance systems, which lack real-time response capabilities. Our proposed solution, the laser security call alert system, combines precise laser detection with GSM-based call alerts to enhance locker security. The system uses invisible laser beams as tripwires; when these beams are interrupted, an LDR sensor detects the breach and signals an Arduino microcontroller. This activates an alarm and sends an instant call alert via the SIM800L GSM module, ensuring immediate notification of security breaches. By integrating laser sensors and GSM communication, our system provides a robust, real-time, and scalable security solution, addressing the limitations of traditional methods.</a:t>
            </a:r>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10750"/>
            <a:ext cx="7242048" cy="987833"/>
          </a:xfrm>
        </p:spPr>
        <p:txBody>
          <a:bodyPr>
            <a:normAutofit/>
          </a:bodyPr>
          <a:lstStyle/>
          <a:p>
            <a:r>
              <a:rPr lang="en-US" sz="2700" b="1" dirty="0">
                <a:latin typeface="Times New Roman" pitchFamily="18" charset="0"/>
                <a:cs typeface="Times New Roman" pitchFamily="18" charset="0"/>
              </a:rPr>
              <a:t>LIST OF THEMES:  </a:t>
            </a:r>
            <a:endParaRPr lang="en-US" sz="2000" dirty="0"/>
          </a:p>
        </p:txBody>
      </p:sp>
      <p:sp>
        <p:nvSpPr>
          <p:cNvPr id="13" name="Pentagon 12"/>
          <p:cNvSpPr/>
          <p:nvPr/>
        </p:nvSpPr>
        <p:spPr>
          <a:xfrm>
            <a:off x="1528760" y="1633360"/>
            <a:ext cx="1016941"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itchFamily="18" charset="0"/>
                <a:cs typeface="Times New Roman" pitchFamily="18" charset="0"/>
              </a:rPr>
              <a:t>T-1 </a:t>
            </a:r>
            <a:endParaRPr lang="en-IN" sz="2200" dirty="0">
              <a:solidFill>
                <a:schemeClr val="tx1"/>
              </a:solidFill>
              <a:latin typeface="Times New Roman" pitchFamily="18" charset="0"/>
              <a:cs typeface="Times New Roman" pitchFamily="18" charset="0"/>
            </a:endParaRPr>
          </a:p>
        </p:txBody>
      </p:sp>
      <p:sp>
        <p:nvSpPr>
          <p:cNvPr id="14" name="Pentagon 13"/>
          <p:cNvSpPr/>
          <p:nvPr/>
        </p:nvSpPr>
        <p:spPr>
          <a:xfrm>
            <a:off x="2743206" y="1633360"/>
            <a:ext cx="3657588"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solidFill>
                  <a:schemeClr val="tx1"/>
                </a:solidFill>
                <a:latin typeface="Times New Roman" pitchFamily="18" charset="0"/>
                <a:cs typeface="Times New Roman" pitchFamily="18" charset="0"/>
              </a:rPr>
              <a:t>E</a:t>
            </a:r>
            <a:r>
              <a:rPr lang="en-IN" sz="2200" dirty="0">
                <a:solidFill>
                  <a:schemeClr val="tx1"/>
                </a:solidFill>
                <a:latin typeface="Times New Roman" pitchFamily="18" charset="0"/>
                <a:cs typeface="Times New Roman" pitchFamily="18" charset="0"/>
              </a:rPr>
              <a:t>NERGY CONSERVATION</a:t>
            </a:r>
          </a:p>
        </p:txBody>
      </p:sp>
      <p:sp>
        <p:nvSpPr>
          <p:cNvPr id="17" name="Pentagon 16"/>
          <p:cNvSpPr/>
          <p:nvPr/>
        </p:nvSpPr>
        <p:spPr>
          <a:xfrm>
            <a:off x="1528760" y="2204864"/>
            <a:ext cx="1016941" cy="428628"/>
          </a:xfrm>
          <a:prstGeom prst="homePlat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itchFamily="18" charset="0"/>
                <a:cs typeface="Times New Roman" pitchFamily="18" charset="0"/>
              </a:rPr>
              <a:t>T-2 </a:t>
            </a:r>
            <a:endParaRPr lang="en-IN" sz="2200" dirty="0">
              <a:solidFill>
                <a:schemeClr val="tx1"/>
              </a:solidFill>
              <a:latin typeface="Times New Roman" pitchFamily="18" charset="0"/>
              <a:cs typeface="Times New Roman" pitchFamily="18" charset="0"/>
            </a:endParaRPr>
          </a:p>
        </p:txBody>
      </p:sp>
      <p:sp>
        <p:nvSpPr>
          <p:cNvPr id="18" name="Pentagon 17"/>
          <p:cNvSpPr/>
          <p:nvPr/>
        </p:nvSpPr>
        <p:spPr>
          <a:xfrm>
            <a:off x="2743206" y="2204864"/>
            <a:ext cx="3657588" cy="428628"/>
          </a:xfrm>
          <a:prstGeom prst="homePlat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altLang="en-US" sz="2200" dirty="0">
                <a:solidFill>
                  <a:schemeClr val="tx1"/>
                </a:solidFill>
                <a:latin typeface="Times New Roman" pitchFamily="18" charset="0"/>
                <a:cs typeface="Times New Roman" pitchFamily="18" charset="0"/>
              </a:rPr>
              <a:t>ROBOTICS</a:t>
            </a:r>
            <a:endParaRPr lang="en-IN" sz="2200" dirty="0">
              <a:solidFill>
                <a:schemeClr val="tx1"/>
              </a:solidFill>
              <a:latin typeface="Times New Roman" pitchFamily="18" charset="0"/>
              <a:cs typeface="Times New Roman" pitchFamily="18" charset="0"/>
            </a:endParaRPr>
          </a:p>
        </p:txBody>
      </p:sp>
      <p:sp>
        <p:nvSpPr>
          <p:cNvPr id="20" name="Pentagon 19"/>
          <p:cNvSpPr/>
          <p:nvPr/>
        </p:nvSpPr>
        <p:spPr>
          <a:xfrm>
            <a:off x="1528760" y="2776368"/>
            <a:ext cx="1016941"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itchFamily="18" charset="0"/>
                <a:cs typeface="Times New Roman" pitchFamily="18" charset="0"/>
              </a:rPr>
              <a:t>T-3 </a:t>
            </a:r>
            <a:endParaRPr lang="en-IN" sz="2200" dirty="0">
              <a:solidFill>
                <a:schemeClr val="tx1"/>
              </a:solidFill>
              <a:latin typeface="Times New Roman" pitchFamily="18" charset="0"/>
              <a:cs typeface="Times New Roman" pitchFamily="18" charset="0"/>
            </a:endParaRPr>
          </a:p>
        </p:txBody>
      </p:sp>
      <p:sp>
        <p:nvSpPr>
          <p:cNvPr id="21" name="Pentagon 20"/>
          <p:cNvSpPr/>
          <p:nvPr/>
        </p:nvSpPr>
        <p:spPr>
          <a:xfrm>
            <a:off x="2743206" y="2776368"/>
            <a:ext cx="3657588"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20000"/>
              </a:lnSpc>
              <a:buNone/>
            </a:pPr>
            <a:r>
              <a:rPr lang="en-US" altLang="en-US" sz="2200" dirty="0">
                <a:solidFill>
                  <a:schemeClr val="tx1"/>
                </a:solidFill>
                <a:latin typeface="Times New Roman" pitchFamily="18" charset="0"/>
                <a:cs typeface="Times New Roman" pitchFamily="18" charset="0"/>
              </a:rPr>
              <a:t>P</a:t>
            </a:r>
            <a:r>
              <a:rPr lang="en-IN" altLang="en-US" sz="2200" dirty="0">
                <a:solidFill>
                  <a:schemeClr val="tx1"/>
                </a:solidFill>
                <a:latin typeface="Times New Roman" pitchFamily="18" charset="0"/>
                <a:cs typeface="Times New Roman" pitchFamily="18" charset="0"/>
              </a:rPr>
              <a:t>UBLIC SAFETY</a:t>
            </a:r>
          </a:p>
        </p:txBody>
      </p:sp>
      <p:sp>
        <p:nvSpPr>
          <p:cNvPr id="23" name="Pentagon 22"/>
          <p:cNvSpPr/>
          <p:nvPr/>
        </p:nvSpPr>
        <p:spPr>
          <a:xfrm>
            <a:off x="1528760" y="3347872"/>
            <a:ext cx="1016941" cy="428628"/>
          </a:xfrm>
          <a:prstGeom prst="homePlat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itchFamily="18" charset="0"/>
                <a:cs typeface="Times New Roman" pitchFamily="18" charset="0"/>
              </a:rPr>
              <a:t>T-4 </a:t>
            </a:r>
            <a:endParaRPr lang="en-IN" sz="2200" dirty="0">
              <a:solidFill>
                <a:schemeClr val="tx1"/>
              </a:solidFill>
              <a:latin typeface="Times New Roman" pitchFamily="18" charset="0"/>
              <a:cs typeface="Times New Roman" pitchFamily="18" charset="0"/>
            </a:endParaRPr>
          </a:p>
        </p:txBody>
      </p:sp>
      <p:sp>
        <p:nvSpPr>
          <p:cNvPr id="24" name="Pentagon 23"/>
          <p:cNvSpPr/>
          <p:nvPr/>
        </p:nvSpPr>
        <p:spPr>
          <a:xfrm>
            <a:off x="2743206" y="3347872"/>
            <a:ext cx="3657588" cy="428628"/>
          </a:xfrm>
          <a:prstGeom prst="homePlat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20000"/>
              </a:lnSpc>
            </a:pPr>
            <a:r>
              <a:rPr lang="en-US" altLang="en-US" sz="2000" dirty="0">
                <a:solidFill>
                  <a:schemeClr val="tx1"/>
                </a:solidFill>
                <a:latin typeface="Times New Roman" pitchFamily="18" charset="0"/>
                <a:cs typeface="Times New Roman" pitchFamily="18" charset="0"/>
              </a:rPr>
              <a:t>A</a:t>
            </a:r>
            <a:r>
              <a:rPr lang="en-IN" altLang="en-US" sz="2000" dirty="0">
                <a:solidFill>
                  <a:schemeClr val="tx1"/>
                </a:solidFill>
                <a:latin typeface="Times New Roman" pitchFamily="18" charset="0"/>
                <a:cs typeface="Times New Roman" pitchFamily="18" charset="0"/>
              </a:rPr>
              <a:t>GRICULTURE</a:t>
            </a:r>
          </a:p>
        </p:txBody>
      </p:sp>
      <p:sp>
        <p:nvSpPr>
          <p:cNvPr id="26" name="Pentagon 25"/>
          <p:cNvSpPr/>
          <p:nvPr/>
        </p:nvSpPr>
        <p:spPr>
          <a:xfrm>
            <a:off x="1528760" y="3919376"/>
            <a:ext cx="1016941"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itchFamily="18" charset="0"/>
                <a:cs typeface="Times New Roman" pitchFamily="18" charset="0"/>
              </a:rPr>
              <a:t>T-5 </a:t>
            </a:r>
            <a:endParaRPr lang="en-IN" sz="2200" dirty="0">
              <a:solidFill>
                <a:schemeClr val="tx1"/>
              </a:solidFill>
              <a:latin typeface="Times New Roman" pitchFamily="18" charset="0"/>
              <a:cs typeface="Times New Roman" pitchFamily="18" charset="0"/>
            </a:endParaRPr>
          </a:p>
        </p:txBody>
      </p:sp>
      <p:sp>
        <p:nvSpPr>
          <p:cNvPr id="27" name="Pentagon 26"/>
          <p:cNvSpPr/>
          <p:nvPr/>
        </p:nvSpPr>
        <p:spPr>
          <a:xfrm>
            <a:off x="2743206" y="3919376"/>
            <a:ext cx="5169756"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20000"/>
              </a:lnSpc>
            </a:pPr>
            <a:r>
              <a:rPr lang="en-US" altLang="en-US" sz="1700" dirty="0">
                <a:solidFill>
                  <a:schemeClr val="tx1"/>
                </a:solidFill>
                <a:latin typeface="Times New Roman" pitchFamily="18" charset="0"/>
                <a:cs typeface="Times New Roman" pitchFamily="18" charset="0"/>
              </a:rPr>
              <a:t>INDUSTRY, INNOVATION AND INFRASTRUTURE</a:t>
            </a:r>
            <a:endParaRPr lang="en-IN" altLang="en-US" sz="1700" dirty="0">
              <a:solidFill>
                <a:schemeClr val="tx1"/>
              </a:solidFill>
              <a:latin typeface="Times New Roman" pitchFamily="18" charset="0"/>
              <a:cs typeface="Times New Roman" pitchFamily="18" charset="0"/>
            </a:endParaRPr>
          </a:p>
        </p:txBody>
      </p:sp>
      <p:sp>
        <p:nvSpPr>
          <p:cNvPr id="29" name="Pentagon 28"/>
          <p:cNvSpPr/>
          <p:nvPr/>
        </p:nvSpPr>
        <p:spPr>
          <a:xfrm>
            <a:off x="1528760" y="4490880"/>
            <a:ext cx="1016941" cy="428628"/>
          </a:xfrm>
          <a:prstGeom prst="homePlat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itchFamily="18" charset="0"/>
                <a:cs typeface="Times New Roman" pitchFamily="18" charset="0"/>
              </a:rPr>
              <a:t>T-6 </a:t>
            </a:r>
            <a:endParaRPr lang="en-IN" sz="2200" dirty="0">
              <a:solidFill>
                <a:schemeClr val="tx1"/>
              </a:solidFill>
              <a:latin typeface="Times New Roman" pitchFamily="18" charset="0"/>
              <a:cs typeface="Times New Roman" pitchFamily="18" charset="0"/>
            </a:endParaRPr>
          </a:p>
        </p:txBody>
      </p:sp>
      <p:sp>
        <p:nvSpPr>
          <p:cNvPr id="30" name="Pentagon 29"/>
          <p:cNvSpPr/>
          <p:nvPr/>
        </p:nvSpPr>
        <p:spPr>
          <a:xfrm>
            <a:off x="2743206" y="4490880"/>
            <a:ext cx="5169756" cy="428628"/>
          </a:xfrm>
          <a:prstGeom prst="homePlat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20000"/>
              </a:lnSpc>
              <a:buNone/>
            </a:pPr>
            <a:r>
              <a:rPr lang="en-US" altLang="en-US" sz="2200" dirty="0">
                <a:solidFill>
                  <a:schemeClr val="tx1"/>
                </a:solidFill>
                <a:latin typeface="Times New Roman" pitchFamily="18" charset="0"/>
                <a:cs typeface="Times New Roman" pitchFamily="18" charset="0"/>
              </a:rPr>
              <a:t>CLEAN WATER AND SANITATION</a:t>
            </a:r>
            <a:endParaRPr lang="en-IN" altLang="en-US" sz="2200" dirty="0">
              <a:solidFill>
                <a:schemeClr val="tx1"/>
              </a:solidFill>
              <a:latin typeface="Times New Roman" pitchFamily="18" charset="0"/>
              <a:cs typeface="Times New Roman" pitchFamily="18" charset="0"/>
            </a:endParaRPr>
          </a:p>
        </p:txBody>
      </p:sp>
      <p:sp>
        <p:nvSpPr>
          <p:cNvPr id="32" name="Pentagon 31"/>
          <p:cNvSpPr/>
          <p:nvPr/>
        </p:nvSpPr>
        <p:spPr>
          <a:xfrm>
            <a:off x="1528760" y="5062384"/>
            <a:ext cx="1016941"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itchFamily="18" charset="0"/>
                <a:cs typeface="Times New Roman" pitchFamily="18" charset="0"/>
              </a:rPr>
              <a:t>T-7 </a:t>
            </a:r>
            <a:endParaRPr lang="en-IN" sz="2200" dirty="0">
              <a:solidFill>
                <a:schemeClr val="tx1"/>
              </a:solidFill>
              <a:latin typeface="Times New Roman" pitchFamily="18" charset="0"/>
              <a:cs typeface="Times New Roman" pitchFamily="18" charset="0"/>
            </a:endParaRPr>
          </a:p>
        </p:txBody>
      </p:sp>
      <p:sp>
        <p:nvSpPr>
          <p:cNvPr id="33" name="Pentagon 32"/>
          <p:cNvSpPr/>
          <p:nvPr/>
        </p:nvSpPr>
        <p:spPr>
          <a:xfrm>
            <a:off x="2743206" y="5062384"/>
            <a:ext cx="5169756" cy="428628"/>
          </a:xfrm>
          <a:prstGeom prst="homePlat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dirty="0">
                <a:solidFill>
                  <a:schemeClr val="tx1"/>
                </a:solidFill>
                <a:latin typeface="Times New Roman" pitchFamily="18" charset="0"/>
                <a:cs typeface="Times New Roman" pitchFamily="18" charset="0"/>
              </a:rPr>
              <a:t>SUSTAINABLE CITIES AND COMMUNITIES</a:t>
            </a:r>
            <a:endParaRPr lang="en-IN" altLang="en-US" dirty="0">
              <a:solidFill>
                <a:schemeClr val="tx1"/>
              </a:solidFill>
              <a:latin typeface="Times New Roman" pitchFamily="18" charset="0"/>
              <a:cs typeface="Times New Roman" pitchFamily="18" charset="0"/>
            </a:endParaRPr>
          </a:p>
        </p:txBody>
      </p:sp>
      <p:sp>
        <p:nvSpPr>
          <p:cNvPr id="35" name="Pentagon 34"/>
          <p:cNvSpPr/>
          <p:nvPr/>
        </p:nvSpPr>
        <p:spPr>
          <a:xfrm>
            <a:off x="1528760" y="5633888"/>
            <a:ext cx="1016941" cy="428628"/>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200" dirty="0">
                <a:solidFill>
                  <a:schemeClr val="tx1"/>
                </a:solidFill>
                <a:latin typeface="Times New Roman" pitchFamily="18" charset="0"/>
                <a:cs typeface="Times New Roman" pitchFamily="18" charset="0"/>
              </a:rPr>
              <a:t>T-8 </a:t>
            </a:r>
            <a:endParaRPr lang="en-IN" sz="2200" dirty="0">
              <a:solidFill>
                <a:schemeClr val="tx1"/>
              </a:solidFill>
              <a:latin typeface="Times New Roman" pitchFamily="18" charset="0"/>
              <a:cs typeface="Times New Roman" pitchFamily="18" charset="0"/>
            </a:endParaRPr>
          </a:p>
        </p:txBody>
      </p:sp>
      <p:sp>
        <p:nvSpPr>
          <p:cNvPr id="36" name="Pentagon 35"/>
          <p:cNvSpPr/>
          <p:nvPr/>
        </p:nvSpPr>
        <p:spPr>
          <a:xfrm>
            <a:off x="2743206" y="5633888"/>
            <a:ext cx="5169756" cy="428628"/>
          </a:xfrm>
          <a:prstGeom prst="homePlat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ct val="110000"/>
              </a:lnSpc>
              <a:buNone/>
            </a:pPr>
            <a:r>
              <a:rPr lang="en-IN" altLang="en-US" sz="2200" dirty="0">
                <a:solidFill>
                  <a:schemeClr val="tx1"/>
                </a:solidFill>
                <a:latin typeface="Times New Roman" pitchFamily="18" charset="0"/>
                <a:cs typeface="Times New Roman" pitchFamily="18" charset="0"/>
              </a:rPr>
              <a:t>AFFORDABLE AND CLEAN ENERGY</a:t>
            </a:r>
          </a:p>
        </p:txBody>
      </p:sp>
    </p:spTree>
    <p:extLst>
      <p:ext uri="{BB962C8B-B14F-4D97-AF65-F5344CB8AC3E}">
        <p14:creationId xmlns:p14="http://schemas.microsoft.com/office/powerpoint/2010/main" val="1151165380"/>
      </p:ext>
    </p:extLst>
  </p:cSld>
  <p:clrMapOvr>
    <a:masterClrMapping/>
  </p:clrMapOvr>
  <p:transition spd="med">
    <p:dissolve/>
    <p:sndAc>
      <p:stSnd>
        <p:snd r:embed="rId2" name="camera.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extBox 1"/>
          <p:cNvSpPr txBox="1"/>
          <p:nvPr/>
        </p:nvSpPr>
        <p:spPr>
          <a:xfrm>
            <a:off x="1066800" y="685800"/>
            <a:ext cx="7086600" cy="461665"/>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SELECTED THEME :  PUBLIC SAFETY  </a:t>
            </a:r>
          </a:p>
        </p:txBody>
      </p:sp>
      <p:sp>
        <p:nvSpPr>
          <p:cNvPr id="1048595" name="TextBox 3"/>
          <p:cNvSpPr txBox="1"/>
          <p:nvPr/>
        </p:nvSpPr>
        <p:spPr>
          <a:xfrm>
            <a:off x="533400" y="1295400"/>
            <a:ext cx="7391400" cy="5386090"/>
          </a:xfrm>
          <a:prstGeom prst="rect">
            <a:avLst/>
          </a:prstGeom>
          <a:noFill/>
        </p:spPr>
        <p:txBody>
          <a:bodyPr wrap="square" rtlCol="0">
            <a:spAutoFit/>
          </a:bodyPr>
          <a:lstStyle/>
          <a:p>
            <a:pPr algn="just"/>
            <a:r>
              <a:rPr lang="en-US" sz="2000" dirty="0">
                <a:latin typeface="Times New Roman" pitchFamily="18" charset="0"/>
                <a:cs typeface="Times New Roman" pitchFamily="18" charset="0"/>
              </a:rPr>
              <a:t>safety encompasses measures and solutions designed to protect individuals and communities from harm, ensuring a secure environment. With rising security concerns, innovative and reliable systems are crucial for preventing unauthorized access and responding to potential threats efficiently.</a:t>
            </a:r>
          </a:p>
          <a:p>
            <a:pPr algn="just"/>
            <a:r>
              <a:rPr lang="en-US" sz="2400" b="1" dirty="0">
                <a:latin typeface="Times New Roman" pitchFamily="18" charset="0"/>
                <a:cs typeface="Times New Roman" pitchFamily="18" charset="0"/>
              </a:rPr>
              <a:t>Relation to the Project  </a:t>
            </a:r>
            <a:r>
              <a:rPr lang="en-US" sz="2000" b="1" dirty="0">
                <a:latin typeface="Times New Roman" pitchFamily="18" charset="0"/>
                <a:cs typeface="Times New Roman" pitchFamily="18" charset="0"/>
              </a:rPr>
              <a:t>:</a:t>
            </a:r>
            <a:r>
              <a:rPr lang="en-US" sz="2000" dirty="0">
                <a:latin typeface="Times New Roman" pitchFamily="18" charset="0"/>
                <a:cs typeface="Times New Roman" pitchFamily="18" charset="0"/>
              </a:rPr>
              <a:t>Our Laser Security Call Alert System enhances public safety by providing a cutting-edge solution for securing sensitive areas, such as lockers, in public and private spaces. Traditional security methods often fall short in providing real-time alerts and precise detection. Our project addresses these issues by using laser technology and GSM communication. When the laser beam is interrupted, the system immediately triggers an alarm and sends a call alert to the owner's phone, ensuring rapid response to any breach. Utilizing an Arduino microcontroller, SIM800L GSM module, laser emitter, and LDR sensor, the system offers a low-cost, high-efficiency security solution that enhances public safety through reliable and immediate threat detection and notification.</a:t>
            </a:r>
            <a:endParaRPr lang="en-US" sz="16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842665"/>
            <a:ext cx="8839200" cy="3985706"/>
          </a:xfrm>
          <a:prstGeom prst="rect">
            <a:avLst/>
          </a:prstGeom>
        </p:spPr>
        <p:txBody>
          <a:bodyPr wrap="square">
            <a:spAutoFit/>
          </a:bodyPr>
          <a:lstStyle/>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Traditional Lock-and-Key Systems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Traditionally, lockers have been secured using simple lock-and-key mechanisms. These systems rely on mechanical keys and locks to prevent unauthorized access. While cost-effective and straightforward, they are susceptible to being picked, duplicated, or forcibly breached. Moreover, they do not offer any real-time alert or remote monitoring capabilities, making them inadequate for modern security needs.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latin typeface="Times New Roman" pitchFamily="18" charset="0"/>
              <a:cs typeface="Times New Roman" pitchFamily="18" charset="0"/>
            </a:endParaRPr>
          </a:p>
        </p:txBody>
      </p:sp>
      <p:sp>
        <p:nvSpPr>
          <p:cNvPr id="3" name="Rectangle 2"/>
          <p:cNvSpPr/>
          <p:nvPr/>
        </p:nvSpPr>
        <p:spPr>
          <a:xfrm>
            <a:off x="1371600" y="381000"/>
            <a:ext cx="6248400" cy="461665"/>
          </a:xfrm>
          <a:prstGeom prst="rect">
            <a:avLst/>
          </a:prstGeom>
        </p:spPr>
        <p:txBody>
          <a:bodyPr wrap="square">
            <a:spAutoFit/>
          </a:bodyPr>
          <a:lstStyle/>
          <a:p>
            <a:pPr algn="ctr"/>
            <a:r>
              <a:rPr lang="en-US" sz="2400" b="1" dirty="0">
                <a:latin typeface="Times New Roman" pitchFamily="18" charset="0"/>
                <a:cs typeface="Times New Roman" pitchFamily="18" charset="0"/>
              </a:rPr>
              <a:t>EXISTING METHOD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68E4AB-51BA-28F7-963F-63A5A7311D41}"/>
              </a:ext>
            </a:extLst>
          </p:cNvPr>
          <p:cNvSpPr txBox="1"/>
          <p:nvPr/>
        </p:nvSpPr>
        <p:spPr>
          <a:xfrm>
            <a:off x="342900" y="2057400"/>
            <a:ext cx="8458200" cy="2935227"/>
          </a:xfrm>
          <a:prstGeom prst="rect">
            <a:avLst/>
          </a:prstGeom>
          <a:noFill/>
        </p:spPr>
        <p:txBody>
          <a:bodyPr wrap="square">
            <a:spAutoFit/>
          </a:bodyPr>
          <a:lstStyle/>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Electronic Keypad Locks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Electronic keypad locks offer a step up from traditional locks by requiring a passcode to unlock. These systems provide better security as they eliminate the risk of lost keys and allow for easy changing of passcodes. However, they still lack real-time alerting and remote monitoring features, which are crucial for promptly responding to security breaches.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026" name="Picture 2">
            <a:extLst>
              <a:ext uri="{FF2B5EF4-FFF2-40B4-BE49-F238E27FC236}">
                <a16:creationId xmlns:a16="http://schemas.microsoft.com/office/drawing/2014/main" id="{4F2FE04C-D091-780D-67D3-5B69F78D9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5900" y="4457700"/>
            <a:ext cx="17145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2A62539-CD8B-5211-3402-7ED317427C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2363" y="304800"/>
            <a:ext cx="1819275"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9492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2186" y="533400"/>
            <a:ext cx="8754775" cy="6370975"/>
          </a:xfrm>
          <a:prstGeom prst="rect">
            <a:avLst/>
          </a:prstGeom>
        </p:spPr>
        <p:txBody>
          <a:bodyPr wrap="square">
            <a:spAutoFit/>
          </a:bodyPr>
          <a:lstStyle/>
          <a:p>
            <a:pPr algn="just">
              <a:lnSpc>
                <a:spcPct val="150000"/>
              </a:lnSpc>
              <a:spcAft>
                <a:spcPts val="100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Lack of Immediate Alert:</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Many systems do not provide instant notifications to the owner in the event of a breach.</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High Costs: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Advanced systems like biometric and smart locks can be prohibitively expensive for some users.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Limited Scalability and Flexibility:</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Older security systems may lack scalability, making it difficult to adapt to changing security requirements or expand coverage as needed. This can result in gaps in security coverage or inefficiencies in resource allocation.</a:t>
            </a:r>
            <a:endParaRPr lang="en-US" sz="2000" dirty="0">
              <a:latin typeface="Times New Roman" pitchFamily="18" charset="0"/>
              <a:cs typeface="Times New Roman" pitchFamily="18" charset="0"/>
            </a:endParaRPr>
          </a:p>
          <a:p>
            <a:pPr>
              <a:buFont typeface="Arial" pitchFamily="34" charset="0"/>
              <a:buChar char="•"/>
            </a:pP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a:t>
            </a:r>
          </a:p>
        </p:txBody>
      </p:sp>
      <p:sp>
        <p:nvSpPr>
          <p:cNvPr id="3" name="Rectangle 2"/>
          <p:cNvSpPr/>
          <p:nvPr/>
        </p:nvSpPr>
        <p:spPr>
          <a:xfrm>
            <a:off x="2638535" y="152400"/>
            <a:ext cx="4565289" cy="461665"/>
          </a:xfrm>
          <a:prstGeom prst="rect">
            <a:avLst/>
          </a:prstGeom>
        </p:spPr>
        <p:txBody>
          <a:bodyPr wrap="none">
            <a:spAutoFit/>
          </a:bodyPr>
          <a:lstStyle/>
          <a:p>
            <a:pPr algn="ctr"/>
            <a:r>
              <a:rPr lang="en-US" sz="2400" b="1" dirty="0">
                <a:latin typeface="Times New Roman" panose="02020603050405020304" pitchFamily="18" charset="0"/>
                <a:cs typeface="Times New Roman" pitchFamily="18" charset="0"/>
              </a:rPr>
              <a:t>PROBLEM IDENTIFICATION </a:t>
            </a:r>
            <a:r>
              <a:rPr lang="en-US" b="1" dirty="0">
                <a:latin typeface="Times New Roman" panose="02020603050405020304" pitchFamily="18" charset="0"/>
                <a:cs typeface="Times New Roman" pitchFamily="18" charset="0"/>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0"/>
            <a:ext cx="8382000" cy="5576976"/>
          </a:xfrm>
          <a:prstGeom prst="rect">
            <a:avLst/>
          </a:prstGeom>
        </p:spPr>
        <p:txBody>
          <a:bodyPr wrap="square">
            <a:spAutoFit/>
          </a:bodyPr>
          <a:lstStyle/>
          <a:p>
            <a:pPr>
              <a:lnSpc>
                <a:spcPct val="150000"/>
              </a:lnSpc>
            </a:pPr>
            <a:endParaRPr lang="en-US" sz="2000" dirty="0">
              <a:latin typeface="Times New Roman" pitchFamily="18" charset="0"/>
              <a:cs typeface="Times New Roman" pitchFamily="18" charset="0"/>
            </a:endParaRPr>
          </a:p>
          <a:p>
            <a:pPr algn="just">
              <a:lnSpc>
                <a:spcPct val="150000"/>
              </a:lnSpc>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Our proposed laser security call alert system combines the precision of laser detection with the immediacy of call alerts to provide enhanced locker security. This system utilizes a laser emitter and an LDR (Light Dependent Resistor) sensor connected to an Arduino microcontroller to form an invisible security boundary around the locker. The laser beam travels long distances without scattering and remains mostly invisible, ensuring that it is difficult for intruders to detect and bypass. When the laser beam is interrupted, the LDR sensor detects the change and signals the Arduino to trigger an alarm and spotlight, providing an immediate local response.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endParaRPr lang="en-US" sz="2000" dirty="0">
              <a:latin typeface="Times New Roman" pitchFamily="18" charset="0"/>
              <a:cs typeface="Times New Roman" pitchFamily="18" charset="0"/>
            </a:endParaRPr>
          </a:p>
          <a:p>
            <a:pPr>
              <a:lnSpc>
                <a:spcPct val="150000"/>
              </a:lnSpc>
            </a:pPr>
            <a:r>
              <a:rPr lang="en-US" sz="2000" dirty="0">
                <a:latin typeface="Times New Roman" pitchFamily="18" charset="0"/>
                <a:cs typeface="Times New Roman" pitchFamily="18" charset="0"/>
              </a:rPr>
              <a:t>		</a:t>
            </a:r>
          </a:p>
        </p:txBody>
      </p:sp>
      <p:sp>
        <p:nvSpPr>
          <p:cNvPr id="3" name="Rectangle 2"/>
          <p:cNvSpPr/>
          <p:nvPr/>
        </p:nvSpPr>
        <p:spPr>
          <a:xfrm>
            <a:off x="1371600" y="381000"/>
            <a:ext cx="6248400" cy="461665"/>
          </a:xfrm>
          <a:prstGeom prst="rect">
            <a:avLst/>
          </a:prstGeom>
        </p:spPr>
        <p:txBody>
          <a:bodyPr wrap="square">
            <a:spAutoFit/>
          </a:bodyPr>
          <a:lstStyle/>
          <a:p>
            <a:pPr algn="ctr"/>
            <a:r>
              <a:rPr lang="en-US" sz="2400" b="1" dirty="0">
                <a:latin typeface="Times New Roman" pitchFamily="18" charset="0"/>
                <a:cs typeface="Times New Roman" pitchFamily="18" charset="0"/>
              </a:rPr>
              <a:t>PROPOSED METHOD  </a:t>
            </a:r>
          </a:p>
        </p:txBody>
      </p:sp>
    </p:spTree>
    <p:extLst>
      <p:ext uri="{BB962C8B-B14F-4D97-AF65-F5344CB8AC3E}">
        <p14:creationId xmlns:p14="http://schemas.microsoft.com/office/powerpoint/2010/main" val="778482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D059ED-BF84-1EC8-A9BB-34FAFD101FFC}"/>
              </a:ext>
            </a:extLst>
          </p:cNvPr>
          <p:cNvSpPr txBox="1"/>
          <p:nvPr/>
        </p:nvSpPr>
        <p:spPr>
          <a:xfrm>
            <a:off x="838200" y="762000"/>
            <a:ext cx="7467600" cy="2345322"/>
          </a:xfrm>
          <a:prstGeom prst="rect">
            <a:avLst/>
          </a:prstGeom>
          <a:noFill/>
        </p:spPr>
        <p:txBody>
          <a:bodyPr wrap="square">
            <a:spAutoFit/>
          </a:bodyPr>
          <a:lstStyle/>
          <a:p>
            <a:pPr algn="just">
              <a:lnSpc>
                <a:spcPct val="150000"/>
              </a:lnSpc>
            </a:pPr>
            <a:r>
              <a:rPr lang="en-US" sz="2000" dirty="0">
                <a:effectLst/>
                <a:latin typeface="Times New Roman" panose="02020603050405020304" pitchFamily="18" charset="0"/>
                <a:ea typeface="Calibri" panose="020F0502020204030204" pitchFamily="34" charset="0"/>
              </a:rPr>
              <a:t>Additionally, the system is integrated with a GSM module, which enhances the security by sending real-time alerts via phone call or SMS to predefined phone numbers. This ensures that even if no one is present at the location, the breach is promptly communicated to the owner or security personnel,</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337161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5A7E0C-DEEC-8C05-7FDE-296A04A340B3}"/>
              </a:ext>
            </a:extLst>
          </p:cNvPr>
          <p:cNvSpPr txBox="1"/>
          <p:nvPr/>
        </p:nvSpPr>
        <p:spPr>
          <a:xfrm>
            <a:off x="304800" y="228600"/>
            <a:ext cx="8458200" cy="6166881"/>
          </a:xfrm>
          <a:prstGeom prst="rect">
            <a:avLst/>
          </a:prstGeom>
          <a:noFill/>
        </p:spPr>
        <p:txBody>
          <a:bodyPr wrap="square">
            <a:spAutoFit/>
          </a:bodyPr>
          <a:lstStyle/>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enabling a swift response. The continuous monitoring by the LDR sensor and the immediate notification capability of the GSM module address the shortcomings of existing systems, which often lack real-time detection and instant alert features.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system's design emphasizes cost-effectiveness and efficiency, utilizing readily available components and the programmable flexibility of Arduino. It operates with low power consumption, making it suitable for continuous use. Moreover, the system's scalability allows for the protection of larger and more complex areas by using mirrors to extend the laser path around corners. By integrating precise laser detection with immediate call alerts, our proposed system provides robust and reliable locker security, ensuring comprehensive protection against unauthorized access attempts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7579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318BF7-ED08-ED24-60FC-633087510CA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982980"/>
            <a:ext cx="5943600" cy="2674620"/>
          </a:xfrm>
          <a:prstGeom prst="rect">
            <a:avLst/>
          </a:prstGeom>
          <a:noFill/>
          <a:ln>
            <a:noFill/>
          </a:ln>
        </p:spPr>
      </p:pic>
    </p:spTree>
    <p:extLst>
      <p:ext uri="{BB962C8B-B14F-4D97-AF65-F5344CB8AC3E}">
        <p14:creationId xmlns:p14="http://schemas.microsoft.com/office/powerpoint/2010/main" val="3465946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76200"/>
            <a:ext cx="7162800" cy="461665"/>
          </a:xfrm>
          <a:prstGeom prst="rect">
            <a:avLst/>
          </a:prstGeom>
        </p:spPr>
        <p:txBody>
          <a:bodyPr wrap="square">
            <a:spAutoFit/>
          </a:bodyPr>
          <a:lstStyle/>
          <a:p>
            <a:pPr algn="ctr"/>
            <a:r>
              <a:rPr lang="en-US" sz="2400" b="1" dirty="0">
                <a:latin typeface="Times New Roman" pitchFamily="18" charset="0"/>
                <a:cs typeface="Times New Roman" pitchFamily="18" charset="0"/>
              </a:rPr>
              <a:t>BLOCK DIAGRAM </a:t>
            </a:r>
          </a:p>
        </p:txBody>
      </p:sp>
      <p:sp>
        <p:nvSpPr>
          <p:cNvPr id="3" name="Rectangle 2"/>
          <p:cNvSpPr/>
          <p:nvPr/>
        </p:nvSpPr>
        <p:spPr>
          <a:xfrm>
            <a:off x="152400" y="4419600"/>
            <a:ext cx="8839200" cy="2103140"/>
          </a:xfrm>
          <a:prstGeom prst="rect">
            <a:avLst/>
          </a:prstGeom>
        </p:spPr>
        <p:txBody>
          <a:bodyPr wrap="square">
            <a:spAutoFit/>
          </a:bodyPr>
          <a:lstStyle/>
          <a:p>
            <a:pPr>
              <a:lnSpc>
                <a:spcPct val="150000"/>
              </a:lnSpc>
              <a:spcAft>
                <a:spcPts val="100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LED SENSOR MODULE:</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LDR detects changes in light intensity. when the light level changes ,it sends a signal to the Arduino uno</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0171A643-7CCB-8C70-E43E-C58786503DF4}"/>
              </a:ext>
            </a:extLst>
          </p:cNvPr>
          <p:cNvPicPr>
            <a:picLocks noChangeAspect="1"/>
          </p:cNvPicPr>
          <p:nvPr/>
        </p:nvPicPr>
        <p:blipFill>
          <a:blip r:embed="rId2"/>
          <a:stretch>
            <a:fillRect/>
          </a:stretch>
        </p:blipFill>
        <p:spPr>
          <a:xfrm>
            <a:off x="2209800" y="914400"/>
            <a:ext cx="4077269" cy="337232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EB6614-E805-6394-5940-34BBBE755639}"/>
              </a:ext>
            </a:extLst>
          </p:cNvPr>
          <p:cNvSpPr txBox="1"/>
          <p:nvPr/>
        </p:nvSpPr>
        <p:spPr>
          <a:xfrm>
            <a:off x="381000" y="304801"/>
            <a:ext cx="8763000" cy="5382499"/>
          </a:xfrm>
          <a:prstGeom prst="rect">
            <a:avLst/>
          </a:prstGeom>
          <a:noFill/>
        </p:spPr>
        <p:txBody>
          <a:bodyPr wrap="square">
            <a:spAutoFit/>
          </a:bodyPr>
          <a:lstStyle/>
          <a:p>
            <a:pPr>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Arduino uno:</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Arduino Uno is the central processing unit of the system. It receives the signal from the LDR Module  if the light level has changed or doesn’t receive any signal the Arduino sends the information or gives command to GSM Module  </a:t>
            </a:r>
          </a:p>
          <a:p>
            <a:pPr>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GSM Module: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GSM is responsible for communication over the mobile network when it receives the command from Arduino it initiates call to a predefined cell phone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Cell Phone: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Then it receives call and alert the owner that someone or something entered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20152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0" y="762000"/>
            <a:ext cx="8077200" cy="461665"/>
          </a:xfrm>
          <a:prstGeom prst="rect">
            <a:avLst/>
          </a:prstGeom>
        </p:spPr>
        <p:txBody>
          <a:bodyPr wrap="square">
            <a:spAutoFit/>
          </a:bodyPr>
          <a:lstStyle/>
          <a:p>
            <a:pPr algn="ctr"/>
            <a:r>
              <a:rPr lang="en-US" sz="2400" b="1" dirty="0">
                <a:latin typeface="Times New Roman" pitchFamily="18" charset="0"/>
                <a:cs typeface="Times New Roman" pitchFamily="18" charset="0"/>
              </a:rPr>
              <a:t>MATERIALS</a:t>
            </a:r>
            <a:r>
              <a:rPr lang="en-US" b="1" dirty="0">
                <a:latin typeface="Times New Roman" pitchFamily="18" charset="0"/>
                <a:cs typeface="Times New Roman" pitchFamily="18" charset="0"/>
              </a:rPr>
              <a:t> </a:t>
            </a:r>
          </a:p>
        </p:txBody>
      </p:sp>
      <p:sp>
        <p:nvSpPr>
          <p:cNvPr id="4" name="Rectangle 3"/>
          <p:cNvSpPr/>
          <p:nvPr/>
        </p:nvSpPr>
        <p:spPr>
          <a:xfrm>
            <a:off x="911942" y="1553949"/>
            <a:ext cx="7772400" cy="2041585"/>
          </a:xfrm>
          <a:prstGeom prst="rect">
            <a:avLst/>
          </a:prstGeom>
        </p:spPr>
        <p:txBody>
          <a:bodyPr wrap="square">
            <a:spAutoFit/>
          </a:bodyPr>
          <a:lstStyle/>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Arduino board:-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Arduino board is a open source controller board that is good for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beginers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to learn electronic and coding</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buFont typeface="Arial" pitchFamily="34" charset="0"/>
              <a:buChar char="•"/>
            </a:pPr>
            <a:endParaRPr lang="en-US" sz="2000" dirty="0">
              <a:latin typeface="Times New Roman" panose="02020603050405020304" pitchFamily="18" charset="0"/>
              <a:cs typeface="Times New Roman" pitchFamily="18" charset="0"/>
            </a:endParaRPr>
          </a:p>
        </p:txBody>
      </p:sp>
      <p:pic>
        <p:nvPicPr>
          <p:cNvPr id="2" name="Picture 1">
            <a:extLst>
              <a:ext uri="{FF2B5EF4-FFF2-40B4-BE49-F238E27FC236}">
                <a16:creationId xmlns:a16="http://schemas.microsoft.com/office/drawing/2014/main" id="{75645386-20AC-56BE-C624-BA843F3AE49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9800" y="3200400"/>
            <a:ext cx="2743200" cy="2743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7A9B48-54C3-B46B-8165-BE28A184E04E}"/>
              </a:ext>
            </a:extLst>
          </p:cNvPr>
          <p:cNvSpPr txBox="1"/>
          <p:nvPr/>
        </p:nvSpPr>
        <p:spPr>
          <a:xfrm>
            <a:off x="381000" y="533400"/>
            <a:ext cx="7924800" cy="2017860"/>
          </a:xfrm>
          <a:prstGeom prst="rect">
            <a:avLst/>
          </a:prstGeom>
          <a:noFill/>
        </p:spPr>
        <p:txBody>
          <a:bodyPr wrap="square">
            <a:spAutoFit/>
          </a:bodyPr>
          <a:lstStyle/>
          <a:p>
            <a:pPr>
              <a:lnSpc>
                <a:spcPct val="150000"/>
              </a:lnSpc>
              <a:spcAft>
                <a:spcPts val="1000"/>
              </a:spcAft>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Bulk and booster module: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The buck–boost converter is a type of DC-to-DC converter that has an output voltage magnitude that is either greater than or less than the input voltage magnitude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7E4D9704-2EFA-A0F2-FA18-9C6FFC10551B}"/>
              </a:ext>
            </a:extLst>
          </p:cNvPr>
          <p:cNvPicPr>
            <a:picLocks noChangeAspect="1"/>
          </p:cNvPicPr>
          <p:nvPr/>
        </p:nvPicPr>
        <p:blipFill>
          <a:blip r:embed="rId2"/>
          <a:stretch>
            <a:fillRect/>
          </a:stretch>
        </p:blipFill>
        <p:spPr>
          <a:xfrm>
            <a:off x="2257425" y="3019425"/>
            <a:ext cx="3305175" cy="3305175"/>
          </a:xfrm>
          <a:prstGeom prst="rect">
            <a:avLst/>
          </a:prstGeom>
        </p:spPr>
      </p:pic>
    </p:spTree>
    <p:extLst>
      <p:ext uri="{BB962C8B-B14F-4D97-AF65-F5344CB8AC3E}">
        <p14:creationId xmlns:p14="http://schemas.microsoft.com/office/powerpoint/2010/main" val="4173578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1B8520-E76F-1013-C1F7-71C2BE09DB35}"/>
              </a:ext>
            </a:extLst>
          </p:cNvPr>
          <p:cNvSpPr txBox="1"/>
          <p:nvPr/>
        </p:nvSpPr>
        <p:spPr>
          <a:xfrm>
            <a:off x="381000" y="685800"/>
            <a:ext cx="8001000" cy="3027560"/>
          </a:xfrm>
          <a:prstGeom prst="rect">
            <a:avLst/>
          </a:prstGeom>
          <a:noFill/>
        </p:spPr>
        <p:txBody>
          <a:bodyPr wrap="square">
            <a:spAutoFit/>
          </a:bodyPr>
          <a:lstStyle/>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Sim 800L(GPRS):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SIM800L is a miniature cellular module which allows for GPRS(</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genral</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packet radio service) transmission, sending and receiving SMS and making and receiving voice calls. Low cost and small footprint and quad band frequency support make this module perfect solution for any project that require long range connectivity</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7606B05-239B-16CD-8D27-039942D09126}"/>
              </a:ext>
            </a:extLst>
          </p:cNvPr>
          <p:cNvPicPr>
            <a:picLocks noChangeAspect="1"/>
          </p:cNvPicPr>
          <p:nvPr/>
        </p:nvPicPr>
        <p:blipFill>
          <a:blip r:embed="rId2"/>
          <a:stretch>
            <a:fillRect/>
          </a:stretch>
        </p:blipFill>
        <p:spPr>
          <a:xfrm>
            <a:off x="2590800" y="3781425"/>
            <a:ext cx="3000375" cy="3000375"/>
          </a:xfrm>
          <a:prstGeom prst="rect">
            <a:avLst/>
          </a:prstGeom>
        </p:spPr>
      </p:pic>
    </p:spTree>
    <p:extLst>
      <p:ext uri="{BB962C8B-B14F-4D97-AF65-F5344CB8AC3E}">
        <p14:creationId xmlns:p14="http://schemas.microsoft.com/office/powerpoint/2010/main" val="2400393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841DC6-EFA5-C674-C6FE-77C92F641B6D}"/>
              </a:ext>
            </a:extLst>
          </p:cNvPr>
          <p:cNvSpPr txBox="1"/>
          <p:nvPr/>
        </p:nvSpPr>
        <p:spPr>
          <a:xfrm>
            <a:off x="762000" y="609600"/>
            <a:ext cx="7772400" cy="1556195"/>
          </a:xfrm>
          <a:prstGeom prst="rect">
            <a:avLst/>
          </a:prstGeom>
          <a:noFill/>
        </p:spPr>
        <p:txBody>
          <a:bodyPr wrap="square">
            <a:spAutoFit/>
          </a:bodyPr>
          <a:lstStyle/>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LDR Sensor module: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LDR light sensor modules are used where there is a need to sense the presence and absence of light is necessary.</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descr="Infrared Proximity Sensor IR Infrared Obstacle Avoidance Sensor Module ...">
            <a:extLst>
              <a:ext uri="{FF2B5EF4-FFF2-40B4-BE49-F238E27FC236}">
                <a16:creationId xmlns:a16="http://schemas.microsoft.com/office/drawing/2014/main" id="{2A226B48-146C-A8E2-6CE9-7C3EBC91F0A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2638425"/>
            <a:ext cx="3457575" cy="3457575"/>
          </a:xfrm>
          <a:prstGeom prst="rect">
            <a:avLst/>
          </a:prstGeom>
          <a:noFill/>
        </p:spPr>
      </p:pic>
    </p:spTree>
    <p:extLst>
      <p:ext uri="{BB962C8B-B14F-4D97-AF65-F5344CB8AC3E}">
        <p14:creationId xmlns:p14="http://schemas.microsoft.com/office/powerpoint/2010/main" val="1865689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CC33F7-6114-1BD6-280A-B984745EE2E1}"/>
              </a:ext>
            </a:extLst>
          </p:cNvPr>
          <p:cNvSpPr txBox="1"/>
          <p:nvPr/>
        </p:nvSpPr>
        <p:spPr>
          <a:xfrm>
            <a:off x="533400" y="838200"/>
            <a:ext cx="8153400" cy="2146100"/>
          </a:xfrm>
          <a:prstGeom prst="rect">
            <a:avLst/>
          </a:prstGeom>
          <a:noFill/>
        </p:spPr>
        <p:txBody>
          <a:bodyPr wrap="square">
            <a:spAutoFit/>
          </a:bodyPr>
          <a:lstStyle/>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Laser light:</a:t>
            </a: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Light amplification by stimulated emission of radiation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 laser is a device that emits a beam of coherent light through an optical amplification process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7E1629D-EA9B-F412-A2EC-E59A58DFE2F6}"/>
              </a:ext>
            </a:extLst>
          </p:cNvPr>
          <p:cNvPicPr>
            <a:picLocks noChangeAspect="1"/>
          </p:cNvPicPr>
          <p:nvPr/>
        </p:nvPicPr>
        <p:blipFill>
          <a:blip r:embed="rId2"/>
          <a:stretch>
            <a:fillRect/>
          </a:stretch>
        </p:blipFill>
        <p:spPr>
          <a:xfrm>
            <a:off x="2743199" y="3429000"/>
            <a:ext cx="2903707" cy="2133600"/>
          </a:xfrm>
          <a:prstGeom prst="rect">
            <a:avLst/>
          </a:prstGeom>
        </p:spPr>
      </p:pic>
    </p:spTree>
    <p:extLst>
      <p:ext uri="{BB962C8B-B14F-4D97-AF65-F5344CB8AC3E}">
        <p14:creationId xmlns:p14="http://schemas.microsoft.com/office/powerpoint/2010/main" val="1397542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685800"/>
            <a:ext cx="7772400" cy="461665"/>
          </a:xfrm>
          <a:prstGeom prst="rect">
            <a:avLst/>
          </a:prstGeom>
        </p:spPr>
        <p:txBody>
          <a:bodyPr wrap="square">
            <a:spAutoFit/>
          </a:bodyPr>
          <a:lstStyle/>
          <a:p>
            <a:pPr algn="ctr"/>
            <a:r>
              <a:rPr lang="en-US" sz="2400" b="1" dirty="0">
                <a:latin typeface="Times New Roman" pitchFamily="18" charset="0"/>
                <a:cs typeface="Times New Roman" pitchFamily="18" charset="0"/>
              </a:rPr>
              <a:t>HARDWARE PROTOTYPE </a:t>
            </a:r>
          </a:p>
        </p:txBody>
      </p:sp>
      <p:sp>
        <p:nvSpPr>
          <p:cNvPr id="3" name="Rectangle 2"/>
          <p:cNvSpPr/>
          <p:nvPr/>
        </p:nvSpPr>
        <p:spPr>
          <a:xfrm>
            <a:off x="609600" y="1676400"/>
            <a:ext cx="8077200" cy="3864519"/>
          </a:xfrm>
          <a:prstGeom prst="rect">
            <a:avLst/>
          </a:prstGeom>
        </p:spPr>
        <p:txBody>
          <a:bodyPr wrap="square">
            <a:spAutoFit/>
          </a:bodyPr>
          <a:lstStyle/>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laser security call alert system employs several critical hardware components to ensure its functionality and reliability. At the heart of the system is the Arduino board, which serves as the central microcontroller. The Arduino orchestrates the entire operation by reading inputs from various sensors, processing this data, and controlling output actions such as sending alerts. It is essential for integrating and managing all other components, making it the brain of the system.</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FEF0D6-C3CC-B52C-4118-164B6610F978}"/>
              </a:ext>
            </a:extLst>
          </p:cNvPr>
          <p:cNvSpPr txBox="1"/>
          <p:nvPr/>
        </p:nvSpPr>
        <p:spPr>
          <a:xfrm>
            <a:off x="609600" y="457199"/>
            <a:ext cx="8153400" cy="6295121"/>
          </a:xfrm>
          <a:prstGeom prst="rect">
            <a:avLst/>
          </a:prstGeom>
          <a:noFill/>
        </p:spPr>
        <p:txBody>
          <a:bodyPr wrap="square">
            <a:spAutoFit/>
          </a:bodyPr>
          <a:lstStyle/>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voltage converter plays a crucial role by ensuring that all components receive the appropriate voltage levels. This component is vital for converting the power supply to suitable voltage levels for the Arduino, SIM800L module, and other sensors, thus ensuring stable and reliable operation.</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SIM800L GPRS module is responsible for communication, enabling the system to send real-time alerts via SMS or calls when a security breach is detected. This module communicates with the Arduino through serial communication, making it a key element for immediate notifications. Additionally, the LDR sensor module detects the presence or interruption of the laser beam, triggering the alert system when the beam is crossed. This sensor, along with the laser light that creates an invisible boundary, forms the core detection mechanism</a:t>
            </a:r>
            <a:endParaRPr lang="en-US" sz="20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31609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838200"/>
            <a:ext cx="7772400" cy="523220"/>
          </a:xfrm>
          <a:prstGeom prst="rect">
            <a:avLst/>
          </a:prstGeom>
        </p:spPr>
        <p:txBody>
          <a:bodyPr wrap="square">
            <a:spAutoFit/>
          </a:bodyPr>
          <a:lstStyle/>
          <a:p>
            <a:pPr algn="ctr"/>
            <a:r>
              <a:rPr lang="en-US" sz="2800" b="1" dirty="0">
                <a:latin typeface="Times New Roman" pitchFamily="18" charset="0"/>
                <a:cs typeface="Times New Roman" pitchFamily="18" charset="0"/>
              </a:rPr>
              <a:t>SOFTWARE DETAILS</a:t>
            </a:r>
          </a:p>
        </p:txBody>
      </p:sp>
      <p:sp>
        <p:nvSpPr>
          <p:cNvPr id="3" name="Rectangle 2"/>
          <p:cNvSpPr/>
          <p:nvPr/>
        </p:nvSpPr>
        <p:spPr>
          <a:xfrm>
            <a:off x="533400" y="1752600"/>
            <a:ext cx="7772400" cy="4910127"/>
          </a:xfrm>
          <a:prstGeom prst="rect">
            <a:avLst/>
          </a:prstGeom>
        </p:spPr>
        <p:txBody>
          <a:bodyPr wrap="square">
            <a:spAutoFit/>
          </a:bodyPr>
          <a:lstStyle/>
          <a:p>
            <a:pPr algn="just">
              <a:lnSpc>
                <a:spcPct val="150000"/>
              </a:lnSpc>
              <a:buFont typeface="Arial" pitchFamily="34" charset="0"/>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language used in the provided code is C++, which is the primary programming language for Arduino development. The Arduino IDE uses a simplified version of C++ with additional functions and libraries to facilitate easy programming and hardware interfacing.</a:t>
            </a: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Key Functions: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Initialization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Set up serial communication for both the Arduino IDE (Serial Monitor) and the SIM800L module. Monitoring and Communication: Continuously read data from the SIM800L module and print it to the Serial Monitor, and vice versa. Software Components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buFont typeface="Arial" pitchFamily="34" charset="0"/>
              <a:buChar char="•"/>
            </a:pPr>
            <a:endParaRPr lang="en-US" sz="2000" dirty="0">
              <a:latin typeface="Times New Roman" panose="02020603050405020304"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290D06-9222-B652-DF0B-1C88F42A95A4}"/>
              </a:ext>
            </a:extLst>
          </p:cNvPr>
          <p:cNvSpPr txBox="1"/>
          <p:nvPr/>
        </p:nvSpPr>
        <p:spPr>
          <a:xfrm>
            <a:off x="533400" y="228600"/>
            <a:ext cx="7924800" cy="5642570"/>
          </a:xfrm>
          <a:prstGeom prst="rect">
            <a:avLst/>
          </a:prstGeom>
          <a:noFill/>
        </p:spPr>
        <p:txBody>
          <a:bodyPr wrap="square">
            <a:spAutoFit/>
          </a:bodyPr>
          <a:lstStyle/>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Pin Configuration: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rxPin</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(pin2):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Receives data from the SIM800L Module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txPin</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(pin3):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Transmits data to the</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SIM800L Module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GPS Module Rx(pin9):</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Receives data from GPS Module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Libraries: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TinyGPS</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For Passing GPS data</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Setup Function: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Initialize serial communication for the serial monitor,sim800l,GPS module sends AT commands to initialize the SIM800L module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buFont typeface="Arial" pitchFamily="34" charset="0"/>
              <a:buChar char="•"/>
            </a:pP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64423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6E1721-B265-5BC2-264E-250FDCAF61FB}"/>
              </a:ext>
            </a:extLst>
          </p:cNvPr>
          <p:cNvSpPr txBox="1"/>
          <p:nvPr/>
        </p:nvSpPr>
        <p:spPr>
          <a:xfrm>
            <a:off x="381000" y="533401"/>
            <a:ext cx="8382000" cy="2274341"/>
          </a:xfrm>
          <a:prstGeom prst="rect">
            <a:avLst/>
          </a:prstGeom>
          <a:noFill/>
        </p:spPr>
        <p:txBody>
          <a:bodyPr wrap="square">
            <a:spAutoFit/>
          </a:bodyPr>
          <a:lstStyle/>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Loop Function:</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Reads data from the SIM800L module and prints it to the Serial monitor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Reads data from the serial monitor and sends it to the SIM800L module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Sends GPS coordinates to the server at regular intervals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98828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464650E-4DD2-B12E-E125-4A1C96A7F5A8}"/>
              </a:ext>
            </a:extLst>
          </p:cNvPr>
          <p:cNvSpPr txBox="1"/>
          <p:nvPr/>
        </p:nvSpPr>
        <p:spPr>
          <a:xfrm>
            <a:off x="152400" y="0"/>
            <a:ext cx="8991600" cy="6352188"/>
          </a:xfrm>
          <a:prstGeom prst="rect">
            <a:avLst/>
          </a:prstGeom>
          <a:noFill/>
        </p:spPr>
        <p:txBody>
          <a:bodyPr wrap="square">
            <a:spAutoFit/>
          </a:bodyPr>
          <a:lstStyle/>
          <a:p>
            <a:pPr>
              <a:lnSpc>
                <a:spcPct val="150000"/>
              </a:lnSpc>
              <a:spcAft>
                <a:spcPts val="100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#include &lt;</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TinyGPS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++.h&gt;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#include &lt;</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SoftwareSerial.h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&gt;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#include &lt;</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AltSoftSerial.h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&gt;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define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rxPin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2</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#define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txPin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3</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SoftwareSerial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sim800L(</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rxPin,txPin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//GPS Module RX pin to Arduino 9</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//GPS Module TX pin to Arduino 8</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AltSoftSerial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neogps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TinyGPSPlus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gps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unsigned long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previousMillis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03875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52A089B-9178-2017-BFD6-4D3CBF881EF8}"/>
              </a:ext>
            </a:extLst>
          </p:cNvPr>
          <p:cNvSpPr txBox="1"/>
          <p:nvPr/>
        </p:nvSpPr>
        <p:spPr>
          <a:xfrm>
            <a:off x="-76200" y="0"/>
            <a:ext cx="9220200" cy="5900783"/>
          </a:xfrm>
          <a:prstGeom prst="rect">
            <a:avLst/>
          </a:prstGeom>
          <a:noFill/>
        </p:spPr>
        <p:txBody>
          <a:bodyPr wrap="square">
            <a:spAutoFit/>
          </a:bodyPr>
          <a:lstStyle/>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long interval = 60000;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void setup(){</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//Begin serial communication with Arduino and Arduino IDE (Serial Monitor)</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Serial.begin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(115200);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//Begin serial communication with Arduino and SIM800L</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sim800L.begin(9600);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//Begin serial communication with Arduino and SIM800L</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neogps.begin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(9600);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Serial.println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("Initializing...");</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//delay(10000);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23400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BC2E8ED-DDD4-4DA0-03FC-46BE5A282CEF}"/>
              </a:ext>
            </a:extLst>
          </p:cNvPr>
          <p:cNvSpPr txBox="1"/>
          <p:nvPr/>
        </p:nvSpPr>
        <p:spPr>
          <a:xfrm>
            <a:off x="0" y="-76199"/>
            <a:ext cx="9144000" cy="7034426"/>
          </a:xfrm>
          <a:prstGeom prst="rect">
            <a:avLst/>
          </a:prstGeom>
          <a:noFill/>
        </p:spPr>
        <p:txBody>
          <a:bodyPr wrap="square">
            <a:spAutoFit/>
          </a:bodyPr>
          <a:lstStyle/>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//Once the handshake test is successful, it will back to OK</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"OK", 2000);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("AT+CMGF=1", "OK", 2000);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//sim800L.print("AT+CMGR=40\r");}</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void loop(){</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while(sim800L.available()){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Serial.println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(sim800L.readString());}</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while(</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Serial.available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sim800L.println(</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Serial.readString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unsigned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long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currentMillis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millis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if(</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currentMillis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previousMillis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 interval)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previousMillis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currentMillis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sendGpsToServer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01982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018712-1D32-573C-E1FA-C797F2E887AB}"/>
              </a:ext>
            </a:extLst>
          </p:cNvPr>
          <p:cNvSpPr txBox="1"/>
          <p:nvPr/>
        </p:nvSpPr>
        <p:spPr>
          <a:xfrm>
            <a:off x="0" y="0"/>
            <a:ext cx="9144000" cy="6988260"/>
          </a:xfrm>
          <a:prstGeom prst="rect">
            <a:avLst/>
          </a:prstGeom>
          <a:noFill/>
        </p:spPr>
        <p:txBody>
          <a:bodyPr wrap="square">
            <a:spAutoFit/>
          </a:bodyPr>
          <a:lstStyle/>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sendGpsToServer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//Can take up to 60 seconds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boolean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newData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false;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for (unsigned long start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millis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millis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start &lt; 2000;){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while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neogps.available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gps.encode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neogps.read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newData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true;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break;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newData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is true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if(true){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newData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false;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75016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40A6E1-65A2-CF42-1C7D-45A6F9931E81}"/>
              </a:ext>
            </a:extLst>
          </p:cNvPr>
          <p:cNvSpPr txBox="1"/>
          <p:nvPr/>
        </p:nvSpPr>
        <p:spPr>
          <a:xfrm>
            <a:off x="152400" y="228600"/>
            <a:ext cx="8991600" cy="6444521"/>
          </a:xfrm>
          <a:prstGeom prst="rect">
            <a:avLst/>
          </a:prstGeom>
          <a:noFill/>
        </p:spPr>
        <p:txBody>
          <a:bodyPr wrap="square">
            <a:spAutoFit/>
          </a:bodyPr>
          <a:lstStyle/>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String latitude, longitude;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float altitude;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unsigned long date, time, speed, satellites;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latitude = String(</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gps.location.lat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6); // Latitude in degrees (double)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longitude = String(</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gps.location.lng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6); // Longitude in degrees (double)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altitude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gps.altitude.meters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Altitude in meters (double)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date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gps.date.value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Raw date in DDMMYY format (u32)</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time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gps.time.value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Raw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time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 HHMMSSCC format (u32)</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speed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gps.speed.kmph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Serial.print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("Latitude= ");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Serial.print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(latitude);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Serial.print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Longitude= ");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920702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7F5924-2623-9543-E273-17D258DC5E9E}"/>
              </a:ext>
            </a:extLst>
          </p:cNvPr>
          <p:cNvSpPr txBox="1"/>
          <p:nvPr/>
        </p:nvSpPr>
        <p:spPr>
          <a:xfrm>
            <a:off x="0" y="0"/>
            <a:ext cx="9144000" cy="6860019"/>
          </a:xfrm>
          <a:prstGeom prst="rect">
            <a:avLst/>
          </a:prstGeom>
          <a:noFill/>
        </p:spPr>
        <p:txBody>
          <a:bodyPr wrap="square">
            <a:spAutoFit/>
          </a:bodyPr>
          <a:lstStyle/>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Serial.println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(longitude);</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//if (latitude == 0) {return 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String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url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temp;</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IN" sz="14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url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"http://ENTER_YOUR_WEBSITE/</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gpsdata.php?lat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url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latitude;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url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"&amp;</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lng</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url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longitude;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url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"http://ahmadssd.000webhostapp.com/</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gpsdata.php?lat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=222&amp;lng=222";</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Serial.println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url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delay(300);</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("AT+CFUN=1", "OK", 2000);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//AT+CGATT = 1 Connect modem is attached to GPRS to a network. AT+CGATT = 0, modem is not attached to GPRS to a network</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13223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4E5F97-8116-719B-5E9F-BFEA1A137292}"/>
              </a:ext>
            </a:extLst>
          </p:cNvPr>
          <p:cNvSpPr txBox="1"/>
          <p:nvPr/>
        </p:nvSpPr>
        <p:spPr>
          <a:xfrm>
            <a:off x="152400" y="0"/>
            <a:ext cx="8991600" cy="6731779"/>
          </a:xfrm>
          <a:prstGeom prst="rect">
            <a:avLst/>
          </a:prstGeom>
          <a:noFill/>
        </p:spPr>
        <p:txBody>
          <a:bodyPr wrap="square">
            <a:spAutoFit/>
          </a:bodyPr>
          <a:lstStyle/>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("AT+CGATT=1", "OK", 2000);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//Connection type: GPRS - bearer profile 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endATcommand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("AT+SAPBR=3,1,\"</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Contype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\",\"GPRS\"", "OK", 2000);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//sets the APN settings for your network provider.</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("AT+SAPBR=3,1,\"APN\",\"internet\"", "OK", 2000);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//enable the GPRS - enable bearer 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("AT+SAPBR=1,1", "OK", 2000);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//Init HTTP service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("AT+HTTPINIT", "OK", 2000);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HTTPPARA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=\"CID\",1", "OK", 1000);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//Set the HTTP URL sim800.print("AT+HTTPPARA="</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URL","http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://ahmadssd.000webhostapp.com/</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gpsdata.php?lat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=222&amp;lng=222"\r");</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19685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D4547C-A98F-D1B8-DA7A-5EB81D9AA9A0}"/>
              </a:ext>
            </a:extLst>
          </p:cNvPr>
          <p:cNvSpPr txBox="1"/>
          <p:nvPr/>
        </p:nvSpPr>
        <p:spPr>
          <a:xfrm>
            <a:off x="0" y="0"/>
            <a:ext cx="9144000" cy="7533473"/>
          </a:xfrm>
          <a:prstGeom prst="rect">
            <a:avLst/>
          </a:prstGeom>
          <a:noFill/>
        </p:spPr>
        <p:txBody>
          <a:bodyPr wrap="square">
            <a:spAutoFit/>
          </a:bodyPr>
          <a:lstStyle/>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sim800L.print("AT+HTTPPARA=\"URL\",\"");</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sim800L.print(</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url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"OK", 1000);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//Set up the HTTP action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("AT+HTTPACTION=0", "0,200", 1000);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//Terminate the HTTP service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("AT+HTTPTERM", "OK", 1000);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//shuts down the GPRS connection. This returns "SHUT OK".</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("AT+CIPSHUT", "SHUT OK", 1000);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return 1;   </a:t>
            </a: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50000"/>
              </a:lnSpc>
              <a:spcAft>
                <a:spcPts val="1000"/>
              </a:spcAft>
            </a:pPr>
            <a:endParaRPr lang="en-IN" dirty="0"/>
          </a:p>
        </p:txBody>
      </p:sp>
    </p:spTree>
    <p:extLst>
      <p:ext uri="{BB962C8B-B14F-4D97-AF65-F5344CB8AC3E}">
        <p14:creationId xmlns:p14="http://schemas.microsoft.com/office/powerpoint/2010/main" val="29373875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0AFF41-C43D-16FF-9262-BA7DF78D79DB}"/>
              </a:ext>
            </a:extLst>
          </p:cNvPr>
          <p:cNvSpPr txBox="1"/>
          <p:nvPr/>
        </p:nvSpPr>
        <p:spPr>
          <a:xfrm>
            <a:off x="0" y="228599"/>
            <a:ext cx="9144000" cy="6824112"/>
          </a:xfrm>
          <a:prstGeom prst="rect">
            <a:avLst/>
          </a:prstGeom>
          <a:noFill/>
        </p:spPr>
        <p:txBody>
          <a:bodyPr wrap="square">
            <a:spAutoFit/>
          </a:bodyPr>
          <a:lstStyle/>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int8_t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(char*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ATcommand</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char*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expected_answer</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unsigned int timeout){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uint8_t x=0,  answer=0;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char response[100];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unsigned long previous;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Initialice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 string</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memset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(response, '\0', 100);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delay(100);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//Clean the input buffer</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while( sim800L.available() &gt; 0) sim800L.read();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if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ATcommand</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[0] != '\0'){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87071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FC1175-23D9-F920-CF5E-657A4DA78273}"/>
              </a:ext>
            </a:extLst>
          </p:cNvPr>
          <p:cNvSpPr txBox="1"/>
          <p:nvPr/>
        </p:nvSpPr>
        <p:spPr>
          <a:xfrm>
            <a:off x="152400" y="76200"/>
            <a:ext cx="8991600" cy="6993581"/>
          </a:xfrm>
          <a:prstGeom prst="rect">
            <a:avLst/>
          </a:prstGeom>
          <a:noFill/>
        </p:spPr>
        <p:txBody>
          <a:bodyPr wrap="square">
            <a:spAutoFit/>
          </a:bodyPr>
          <a:lstStyle/>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x = 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previous =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millis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//this loop waits for the answer with time out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do{</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//if there are data in the UART input buffer, reads it and checks for the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asnwer</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if(sim800L.available() != 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response[x] = sim800L.read();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Serial.print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(response[x]);</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x++;</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check if the desired answer (OK) is in the response of the module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if(</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strstr</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(response,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expected_answer</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NULL){</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answer = 1;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235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D823D5-1725-7D9F-20F2-2BDA1251C1F2}"/>
              </a:ext>
            </a:extLst>
          </p:cNvPr>
          <p:cNvSpPr txBox="1"/>
          <p:nvPr/>
        </p:nvSpPr>
        <p:spPr>
          <a:xfrm>
            <a:off x="152400" y="381000"/>
            <a:ext cx="8991600" cy="6141233"/>
          </a:xfrm>
          <a:prstGeom prst="rect">
            <a:avLst/>
          </a:prstGeom>
          <a:noFill/>
        </p:spPr>
        <p:txBody>
          <a:bodyPr wrap="square">
            <a:spAutoFit/>
          </a:bodyPr>
          <a:lstStyle/>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}while((answer == 0) &amp;&amp;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millis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previous) &lt; timeout));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Serial.println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(response);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return answer;}</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boolean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(String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expected_answer</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="OK", unsigned int timeout=2000) //uncomment if syntax error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arduino</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boolean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sendATcommand</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(String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ATcommand</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String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expected_answer</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unsigned int timeout) //uncomment if syntax error (esp8266)</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uint8_t x=0, answer=0;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String response;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unsigned long previous;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7420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B911F8-9FF0-23EE-1F5E-7697AE7C4046}"/>
              </a:ext>
            </a:extLst>
          </p:cNvPr>
          <p:cNvSpPr txBox="1"/>
          <p:nvPr/>
        </p:nvSpPr>
        <p:spPr>
          <a:xfrm>
            <a:off x="152400" y="228600"/>
            <a:ext cx="9372600" cy="6397713"/>
          </a:xfrm>
          <a:prstGeom prst="rect">
            <a:avLst/>
          </a:prstGeom>
          <a:noFill/>
        </p:spPr>
        <p:txBody>
          <a:bodyPr wrap="square">
            <a:spAutoFit/>
          </a:bodyPr>
          <a:lstStyle/>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//Clean the input buffer</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while( SIM800.available() &gt; 0) SIM800.read();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sim800L.println(</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ATcommand</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previous =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millis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do{</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//if data in UART INPUT BUFFER, reads it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if(SIM800.available() != 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char c = SIM800.read();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response.concat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x++;</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//checks if the (response ==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expected_answer</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275169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18BF5B-31A8-F13D-4712-83B65B8A8DF3}"/>
              </a:ext>
            </a:extLst>
          </p:cNvPr>
          <p:cNvSpPr txBox="1"/>
          <p:nvPr/>
        </p:nvSpPr>
        <p:spPr>
          <a:xfrm>
            <a:off x="152400" y="228600"/>
            <a:ext cx="9144000" cy="6397713"/>
          </a:xfrm>
          <a:prstGeom prst="rect">
            <a:avLst/>
          </a:prstGeom>
          <a:noFill/>
        </p:spPr>
        <p:txBody>
          <a:bodyPr wrap="square">
            <a:spAutoFit/>
          </a:bodyPr>
          <a:lstStyle/>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if(</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response.indexOf</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expected_answer</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&gt; 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answer = 1;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}while((answer == 0) &amp;&amp;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millis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previous) &lt; timeout));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Serial.println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(response);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return answer; }</a:t>
            </a: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//AT+CFUN=1</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//AT+CGATT=1</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//AT+SAPBR=3,1,"Contype","GPRS"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//AT+SAPBR=3,1,"APN","internet"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//AT+SAPBR=1,1</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39746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7772400" cy="523220"/>
          </a:xfrm>
          <a:prstGeom prst="rect">
            <a:avLst/>
          </a:prstGeom>
        </p:spPr>
        <p:txBody>
          <a:bodyPr wrap="square">
            <a:spAutoFit/>
          </a:bodyPr>
          <a:lstStyle/>
          <a:p>
            <a:pPr algn="ctr"/>
            <a:r>
              <a:rPr lang="en-US" sz="2800" b="1" dirty="0">
                <a:latin typeface="Times New Roman" pitchFamily="18" charset="0"/>
                <a:cs typeface="Times New Roman" pitchFamily="18" charset="0"/>
              </a:rPr>
              <a:t>WORKING PRINCIPLE</a:t>
            </a:r>
          </a:p>
        </p:txBody>
      </p:sp>
      <p:sp>
        <p:nvSpPr>
          <p:cNvPr id="3" name="Rectangle 2"/>
          <p:cNvSpPr/>
          <p:nvPr/>
        </p:nvSpPr>
        <p:spPr>
          <a:xfrm>
            <a:off x="293914" y="890341"/>
            <a:ext cx="7772400" cy="5967659"/>
          </a:xfrm>
          <a:prstGeom prst="rect">
            <a:avLst/>
          </a:prstGeom>
        </p:spPr>
        <p:txBody>
          <a:bodyPr wrap="square">
            <a:spAutoFit/>
          </a:bodyPr>
          <a:lstStyle/>
          <a:p>
            <a:pPr marL="285750" indent="-285750" algn="just">
              <a:lnSpc>
                <a:spcPct val="150000"/>
              </a:lnSpc>
              <a:spcAft>
                <a:spcPts val="1000"/>
              </a:spcAft>
              <a:buFont typeface="Arial" panose="020B0604020202020204" pitchFamily="34" charset="0"/>
              <a:buChar cha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Detection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 laser module emits a continuous beam aimed at a sensor. When someone attempts to open the locker and breaks the laser beam, the sensor detects this interruption.</a:t>
            </a:r>
          </a:p>
          <a:p>
            <a:pPr marL="285750" indent="-285750" algn="just">
              <a:lnSpc>
                <a:spcPct val="150000"/>
              </a:lnSpc>
              <a:spcAft>
                <a:spcPts val="1000"/>
              </a:spcAft>
              <a:buFont typeface="Arial" panose="020B0604020202020204" pitchFamily="34" charset="0"/>
              <a:buChar cha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Processing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 sensor sends a signal to the Arduino microcontroller. The microcontroller processes this signal and determines that a breach has occurred.</a:t>
            </a:r>
          </a:p>
          <a:p>
            <a:pPr marL="285750" indent="-285750" algn="just">
              <a:lnSpc>
                <a:spcPct val="150000"/>
              </a:lnSpc>
              <a:spcAft>
                <a:spcPts val="1000"/>
              </a:spcAft>
              <a:buFont typeface="Arial" panose="020B0604020202020204" pitchFamily="34" charset="0"/>
              <a:buChar cha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Alerting: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Upon detecting the breach, the Arduino activates an audible alarm to alert anyone nearby. Simultaneously, it triggers the GSM module to send a call alert to the owner or security personnel, providing immediate notification of the breach.</a:t>
            </a:r>
          </a:p>
          <a:p>
            <a:pPr marL="285750" indent="-285750" algn="just">
              <a:lnSpc>
                <a:spcPct val="150000"/>
              </a:lnSpc>
              <a:spcAft>
                <a:spcPts val="1000"/>
              </a:spcAft>
              <a:buFont typeface="Arial" panose="020B0604020202020204" pitchFamily="34" charset="0"/>
              <a:buChar cha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Response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 call alert enables the owner to take quick action, such as contacting law enforcement or checking the locker in real-time..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842709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762000"/>
            <a:ext cx="8001000" cy="461665"/>
          </a:xfrm>
          <a:prstGeom prst="rect">
            <a:avLst/>
          </a:prstGeom>
        </p:spPr>
        <p:txBody>
          <a:bodyPr wrap="square">
            <a:spAutoFit/>
          </a:bodyPr>
          <a:lstStyle/>
          <a:p>
            <a:pPr algn="ctr"/>
            <a:r>
              <a:rPr lang="en-US" sz="2400" b="1" dirty="0">
                <a:latin typeface="Times New Roman" pitchFamily="18" charset="0"/>
                <a:cs typeface="Times New Roman" pitchFamily="18" charset="0"/>
              </a:rPr>
              <a:t>ADVANTAGES &amp; DISADVANTAGES</a:t>
            </a:r>
            <a:r>
              <a:rPr lang="en-US" sz="2000" b="1" dirty="0">
                <a:latin typeface="Times New Roman" pitchFamily="18" charset="0"/>
                <a:cs typeface="Times New Roman" pitchFamily="18" charset="0"/>
              </a:rPr>
              <a:t> </a:t>
            </a:r>
          </a:p>
        </p:txBody>
      </p:sp>
      <p:sp>
        <p:nvSpPr>
          <p:cNvPr id="3" name="Rectangle 2"/>
          <p:cNvSpPr/>
          <p:nvPr/>
        </p:nvSpPr>
        <p:spPr>
          <a:xfrm>
            <a:off x="764458" y="1295400"/>
            <a:ext cx="7848600" cy="5498941"/>
          </a:xfrm>
          <a:prstGeom prst="rect">
            <a:avLst/>
          </a:prstGeom>
        </p:spPr>
        <p:txBody>
          <a:bodyPr wrap="square">
            <a:spAutoFit/>
          </a:bodyPr>
          <a:lstStyle/>
          <a:p>
            <a:pPr marL="285750" indent="-285750" algn="just">
              <a:lnSpc>
                <a:spcPct val="150000"/>
              </a:lnSpc>
              <a:spcAft>
                <a:spcPts val="1000"/>
              </a:spcAft>
              <a:buFont typeface="Arial" panose="020B0604020202020204" pitchFamily="34" charset="0"/>
              <a:buChar cha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High Precision:</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 system utilizes a laser beam, which provides a highly accurate and precise detection method. This ensures that even the smallest breach in the security perimeter is quickly detected, reducing the likelihood of unauthorized access going unnoticed</a:t>
            </a: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Immediate Alerts: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By integrating the SIM800L GPRS module, the system can send real-time alerts via SMS or calls. This immediacy ensures that any security breach is promptly communicated to the relevant authorities or users, allowing for a swift response to potential threats.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065DAA-8A70-69CB-889E-09105F982650}"/>
              </a:ext>
            </a:extLst>
          </p:cNvPr>
          <p:cNvSpPr txBox="1"/>
          <p:nvPr/>
        </p:nvSpPr>
        <p:spPr>
          <a:xfrm>
            <a:off x="381000" y="1143001"/>
            <a:ext cx="7772400" cy="2700098"/>
          </a:xfrm>
          <a:prstGeom prst="rect">
            <a:avLst/>
          </a:prstGeom>
          <a:noFill/>
        </p:spPr>
        <p:txBody>
          <a:bodyPr wrap="square">
            <a:spAutoFit/>
          </a:bodyPr>
          <a:lstStyle/>
          <a:p>
            <a:pPr marL="285750" indent="-285750" algn="just">
              <a:lnSpc>
                <a:spcPct val="150000"/>
              </a:lnSpc>
              <a:spcAft>
                <a:spcPts val="1000"/>
              </a:spcAft>
              <a:buFont typeface="Arial" panose="020B0604020202020204" pitchFamily="34" charset="0"/>
              <a:buChar cha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Invisible Detection:</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The laser beam is mostly invisible to the naked eye, making it difficult for intruders to detect and avoid. This invisibility adds a layer of stealth to the security system, making it harder for unauthorized persons to bypass.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346788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A42256-35E1-14DC-E270-2EA46DF55217}"/>
              </a:ext>
            </a:extLst>
          </p:cNvPr>
          <p:cNvSpPr txBox="1"/>
          <p:nvPr/>
        </p:nvSpPr>
        <p:spPr>
          <a:xfrm>
            <a:off x="457200" y="533399"/>
            <a:ext cx="6400800" cy="6598409"/>
          </a:xfrm>
          <a:prstGeom prst="rect">
            <a:avLst/>
          </a:prstGeom>
          <a:noFill/>
        </p:spPr>
        <p:txBody>
          <a:bodyPr wrap="square">
            <a:spAutoFit/>
          </a:bodyPr>
          <a:lstStyle/>
          <a:p>
            <a:pPr algn="just">
              <a:lnSpc>
                <a:spcPct val="150000"/>
              </a:lnSpc>
              <a:spcAft>
                <a:spcPts val="100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Disadvantages:</a:t>
            </a:r>
          </a:p>
          <a:p>
            <a:pPr marL="342900" indent="-342900" algn="just">
              <a:lnSpc>
                <a:spcPct val="150000"/>
              </a:lnSpc>
              <a:spcAft>
                <a:spcPts val="1000"/>
              </a:spcAft>
              <a:buFont typeface="Arial" panose="020B0604020202020204" pitchFamily="34" charset="0"/>
              <a:buChar cha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Line-of-Sight Dependence: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laser security system requires an unobstructed line of sight between the laser emitter and the LDR sensor. Any physical obstruction, such as dirt, dust, or other objects, can disrupt the laser beam and cause false alarms or system malfunctions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1000"/>
              </a:spcAft>
              <a:buFont typeface="Arial" panose="020B0604020202020204" pitchFamily="34" charset="0"/>
              <a:buChar cha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Sensitivity to Environmental Factors: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Environmental conditions like fog, smoke, or heavy rain can scatter the laser beam, reducing its effectiveness and potentially causing false positives. The system might require regular maintenance and calibration to ensure reliable performance under varying weather conditions.</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516476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434F7B-B5C9-61CE-1626-FCDA02094DDC}"/>
              </a:ext>
            </a:extLst>
          </p:cNvPr>
          <p:cNvSpPr txBox="1"/>
          <p:nvPr/>
        </p:nvSpPr>
        <p:spPr>
          <a:xfrm>
            <a:off x="457200" y="609601"/>
            <a:ext cx="8001000" cy="2571858"/>
          </a:xfrm>
          <a:prstGeom prst="rect">
            <a:avLst/>
          </a:prstGeom>
          <a:noFill/>
        </p:spPr>
        <p:txBody>
          <a:bodyPr wrap="square">
            <a:spAutoFit/>
          </a:bodyPr>
          <a:lstStyle/>
          <a:p>
            <a:pPr marL="342900" indent="-342900" algn="just">
              <a:lnSpc>
                <a:spcPct val="150000"/>
              </a:lnSpc>
              <a:spcAft>
                <a:spcPts val="1000"/>
              </a:spcAft>
              <a:buFont typeface="Arial" panose="020B0604020202020204" pitchFamily="34" charset="0"/>
              <a:buChar cha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Limited Range and Coverage: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 While lasers can travel long distances without significant scattering, the practical range of the system is still limited. For large areas, multiple lasers and sensors are needed, increasing the complexity and cost of installation and maintenance</a:t>
            </a:r>
            <a:endParaRPr lang="en-IN" sz="2000" dirty="0"/>
          </a:p>
        </p:txBody>
      </p:sp>
    </p:spTree>
    <p:extLst>
      <p:ext uri="{BB962C8B-B14F-4D97-AF65-F5344CB8AC3E}">
        <p14:creationId xmlns:p14="http://schemas.microsoft.com/office/powerpoint/2010/main" val="1980442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BB7B2B-B7E1-4751-AAF2-1F46EA956BB6}"/>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CONCLUSION</a:t>
            </a:r>
            <a:endParaRPr lang="en-IN" dirty="0"/>
          </a:p>
        </p:txBody>
      </p:sp>
      <p:sp>
        <p:nvSpPr>
          <p:cNvPr id="5" name="Content Placeholder 4">
            <a:extLst>
              <a:ext uri="{FF2B5EF4-FFF2-40B4-BE49-F238E27FC236}">
                <a16:creationId xmlns:a16="http://schemas.microsoft.com/office/drawing/2014/main" id="{56A1E35B-FC17-4D72-99BA-F4DF8D7A92D6}"/>
              </a:ext>
            </a:extLst>
          </p:cNvPr>
          <p:cNvSpPr>
            <a:spLocks noGrp="1"/>
          </p:cNvSpPr>
          <p:nvPr>
            <p:ph idx="1"/>
          </p:nvPr>
        </p:nvSpPr>
        <p:spPr>
          <a:xfrm>
            <a:off x="444910" y="1524000"/>
            <a:ext cx="8229600" cy="4525963"/>
          </a:xfrm>
        </p:spPr>
        <p:txBody>
          <a:bodyPr>
            <a:normAutofit fontScale="92500" lnSpcReduction="10000"/>
          </a:bodyPr>
          <a:lstStyle/>
          <a:p>
            <a:pPr algn="just">
              <a:lnSpc>
                <a:spcPct val="150000"/>
              </a:lnSpc>
            </a:pPr>
            <a:r>
              <a:rPr lang="en-US" sz="2200" b="1" dirty="0">
                <a:latin typeface="Times New Roman" panose="02020603050405020304" pitchFamily="18" charset="0"/>
                <a:cs typeface="Times New Roman" panose="02020603050405020304" pitchFamily="18" charset="0"/>
              </a:rPr>
              <a:t>Enhanced Security</a:t>
            </a:r>
            <a:r>
              <a:rPr lang="en-US" sz="22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Our Laser Security Call Alert System significantly improves security for lockers and sensitive areas by providing real-time breach detection and immediate notifications.</a:t>
            </a:r>
          </a:p>
          <a:p>
            <a:pPr algn="just">
              <a:lnSpc>
                <a:spcPct val="150000"/>
              </a:lnSpc>
            </a:pPr>
            <a:r>
              <a:rPr lang="en-US" sz="20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Cost-Effective: </a:t>
            </a:r>
            <a:r>
              <a:rPr lang="en-US" sz="2000" dirty="0">
                <a:latin typeface="Times New Roman" panose="02020603050405020304" pitchFamily="18" charset="0"/>
                <a:cs typeface="Times New Roman" panose="02020603050405020304" pitchFamily="18" charset="0"/>
              </a:rPr>
              <a:t>The system is designed to be low-cost, making it accessible for various applications without compromising on effectiveness.- </a:t>
            </a:r>
          </a:p>
          <a:p>
            <a:pPr algn="just">
              <a:lnSpc>
                <a:spcPct val="150000"/>
              </a:lnSpc>
            </a:pPr>
            <a:r>
              <a:rPr lang="en-US" sz="2200" b="1" dirty="0">
                <a:latin typeface="Times New Roman" panose="02020603050405020304" pitchFamily="18" charset="0"/>
                <a:cs typeface="Times New Roman" panose="02020603050405020304" pitchFamily="18" charset="0"/>
              </a:rPr>
              <a:t>Immediate Response: </a:t>
            </a:r>
            <a:r>
              <a:rPr lang="en-US" sz="2000" dirty="0">
                <a:latin typeface="Times New Roman" panose="02020603050405020304" pitchFamily="18" charset="0"/>
                <a:cs typeface="Times New Roman" panose="02020603050405020304" pitchFamily="18" charset="0"/>
              </a:rPr>
              <a:t>By integrating laser technology with GSM modules, the system ensures rapid notification and response to unauthorized access attempts</a:t>
            </a:r>
          </a:p>
          <a:p>
            <a:pPr algn="just">
              <a:lnSpc>
                <a:spcPct val="150000"/>
              </a:lnSpc>
            </a:pPr>
            <a:r>
              <a:rPr lang="en-US" sz="2200" b="1" dirty="0">
                <a:latin typeface="Times New Roman" panose="02020603050405020304" pitchFamily="18" charset="0"/>
                <a:cs typeface="Times New Roman" panose="02020603050405020304" pitchFamily="18" charset="0"/>
              </a:rPr>
              <a:t>High Precision: </a:t>
            </a:r>
            <a:r>
              <a:rPr lang="en-US" sz="2000" dirty="0">
                <a:latin typeface="Times New Roman" panose="02020603050405020304" pitchFamily="18" charset="0"/>
                <a:cs typeface="Times New Roman" panose="02020603050405020304" pitchFamily="18" charset="0"/>
              </a:rPr>
              <a:t>The use of laser beams offers precise detection with minimal false alarms, enhancing the reliability of the security system.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2358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D5F83E-5285-49C9-6437-B7C3138A7FBB}"/>
              </a:ext>
            </a:extLst>
          </p:cNvPr>
          <p:cNvSpPr txBox="1"/>
          <p:nvPr/>
        </p:nvSpPr>
        <p:spPr>
          <a:xfrm>
            <a:off x="533400" y="762001"/>
            <a:ext cx="7924800" cy="5207644"/>
          </a:xfrm>
          <a:prstGeom prst="rect">
            <a:avLst/>
          </a:prstGeom>
          <a:noFill/>
        </p:spPr>
        <p:txBody>
          <a:bodyPr wrap="square">
            <a:spAutoFit/>
          </a:bodyPr>
          <a:lstStyle/>
          <a:p>
            <a:pPr algn="ctr">
              <a:lnSpc>
                <a:spcPct val="150000"/>
              </a:lnSpc>
            </a:pPr>
            <a:r>
              <a:rPr lang="en-IN" sz="2400" b="1" dirty="0">
                <a:latin typeface="Times New Roman" panose="02020603050405020304" pitchFamily="18" charset="0"/>
                <a:cs typeface="Times New Roman" panose="02020603050405020304" pitchFamily="18" charset="0"/>
              </a:rPr>
              <a:t>Future Work </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Integration with Smart Home Systems: </a:t>
            </a:r>
            <a:r>
              <a:rPr lang="en-IN" sz="2000" dirty="0">
                <a:latin typeface="Times New Roman" panose="02020603050405020304" pitchFamily="18" charset="0"/>
                <a:cs typeface="Times New Roman" panose="02020603050405020304" pitchFamily="18" charset="0"/>
              </a:rPr>
              <a:t>Enhancing the system to integrate with smart home technologies for broader security coverage and automation.- *Mobile Application*: Developing a mobile application to provide more control and monitoring capabilities for users.</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AI and Machine Learning: </a:t>
            </a:r>
            <a:r>
              <a:rPr lang="en-IN" sz="2000" dirty="0">
                <a:latin typeface="Times New Roman" panose="02020603050405020304" pitchFamily="18" charset="0"/>
                <a:cs typeface="Times New Roman" panose="02020603050405020304" pitchFamily="18" charset="0"/>
              </a:rPr>
              <a:t>rating AI and machine learning to predict and detect patterns of unauthorized access, further reducing false alarms</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Additional Sensors: </a:t>
            </a:r>
            <a:r>
              <a:rPr lang="en-US" sz="2000" dirty="0">
                <a:latin typeface="Times New Roman" panose="02020603050405020304" pitchFamily="18" charset="0"/>
                <a:cs typeface="Times New Roman" panose="02020603050405020304" pitchFamily="18" charset="0"/>
              </a:rPr>
              <a:t>Adding more types of sensors (e.g., motion detectors, thermal cameras) to improve the comprehensiveness and robustness of the security system.</a:t>
            </a:r>
            <a:r>
              <a:rPr lang="en-I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283961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D118A-5E6D-4FC8-A509-E9786A2D1A68}"/>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REFERENCE</a:t>
            </a:r>
            <a:endParaRPr lang="en-IN"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9C9486D9-4580-4DEF-9E46-53875C5FB5D0}"/>
              </a:ext>
            </a:extLst>
          </p:cNvPr>
          <p:cNvGraphicFramePr>
            <a:graphicFrameLocks noGrp="1"/>
          </p:cNvGraphicFramePr>
          <p:nvPr>
            <p:ph idx="1"/>
            <p:extLst>
              <p:ext uri="{D42A27DB-BD31-4B8C-83A1-F6EECF244321}">
                <p14:modId xmlns:p14="http://schemas.microsoft.com/office/powerpoint/2010/main" val="1201753192"/>
              </p:ext>
            </p:extLst>
          </p:nvPr>
        </p:nvGraphicFramePr>
        <p:xfrm>
          <a:off x="457200" y="1600200"/>
          <a:ext cx="8077200" cy="4421697"/>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140380918"/>
                    </a:ext>
                  </a:extLst>
                </a:gridCol>
                <a:gridCol w="2362200">
                  <a:extLst>
                    <a:ext uri="{9D8B030D-6E8A-4147-A177-3AD203B41FA5}">
                      <a16:colId xmlns:a16="http://schemas.microsoft.com/office/drawing/2014/main" val="4150690984"/>
                    </a:ext>
                  </a:extLst>
                </a:gridCol>
                <a:gridCol w="1752600">
                  <a:extLst>
                    <a:ext uri="{9D8B030D-6E8A-4147-A177-3AD203B41FA5}">
                      <a16:colId xmlns:a16="http://schemas.microsoft.com/office/drawing/2014/main" val="1696573685"/>
                    </a:ext>
                  </a:extLst>
                </a:gridCol>
                <a:gridCol w="1752600">
                  <a:extLst>
                    <a:ext uri="{9D8B030D-6E8A-4147-A177-3AD203B41FA5}">
                      <a16:colId xmlns:a16="http://schemas.microsoft.com/office/drawing/2014/main" val="1929558067"/>
                    </a:ext>
                  </a:extLst>
                </a:gridCol>
                <a:gridCol w="1066800">
                  <a:extLst>
                    <a:ext uri="{9D8B030D-6E8A-4147-A177-3AD203B41FA5}">
                      <a16:colId xmlns:a16="http://schemas.microsoft.com/office/drawing/2014/main" val="95713003"/>
                    </a:ext>
                  </a:extLst>
                </a:gridCol>
              </a:tblGrid>
              <a:tr h="457200">
                <a:tc>
                  <a:txBody>
                    <a:bodyPr/>
                    <a:lstStyle/>
                    <a:p>
                      <a:pPr algn="ctr"/>
                      <a:r>
                        <a:rPr lang="en-IN" dirty="0"/>
                        <a:t>S.NO</a:t>
                      </a:r>
                    </a:p>
                  </a:txBody>
                  <a:tcPr>
                    <a:lnB w="12700" cap="flat" cmpd="sng" algn="ctr">
                      <a:solidFill>
                        <a:schemeClr val="tx1"/>
                      </a:solidFill>
                      <a:prstDash val="solid"/>
                      <a:round/>
                      <a:headEnd type="none" w="med" len="med"/>
                      <a:tailEnd type="none" w="med" len="med"/>
                    </a:lnB>
                  </a:tcPr>
                </a:tc>
                <a:tc>
                  <a:txBody>
                    <a:bodyPr/>
                    <a:lstStyle/>
                    <a:p>
                      <a:pPr algn="ctr"/>
                      <a:r>
                        <a:rPr lang="en-IN" dirty="0"/>
                        <a:t>TITLE</a:t>
                      </a:r>
                    </a:p>
                  </a:txBody>
                  <a:tcPr>
                    <a:lnB w="12700" cap="flat" cmpd="sng" algn="ctr">
                      <a:solidFill>
                        <a:schemeClr val="tx1"/>
                      </a:solidFill>
                      <a:prstDash val="solid"/>
                      <a:round/>
                      <a:headEnd type="none" w="med" len="med"/>
                      <a:tailEnd type="none" w="med" len="med"/>
                    </a:lnB>
                  </a:tcPr>
                </a:tc>
                <a:tc>
                  <a:txBody>
                    <a:bodyPr/>
                    <a:lstStyle/>
                    <a:p>
                      <a:pPr algn="ctr"/>
                      <a:r>
                        <a:rPr lang="en-IN" dirty="0"/>
                        <a:t>PUBLICATION</a:t>
                      </a:r>
                    </a:p>
                  </a:txBody>
                  <a:tcPr>
                    <a:lnB w="12700" cap="flat" cmpd="sng" algn="ctr">
                      <a:solidFill>
                        <a:schemeClr val="tx1"/>
                      </a:solidFill>
                      <a:prstDash val="solid"/>
                      <a:round/>
                      <a:headEnd type="none" w="med" len="med"/>
                      <a:tailEnd type="none" w="med" len="med"/>
                    </a:lnB>
                  </a:tcPr>
                </a:tc>
                <a:tc>
                  <a:txBody>
                    <a:bodyPr/>
                    <a:lstStyle/>
                    <a:p>
                      <a:pPr algn="ctr"/>
                      <a:r>
                        <a:rPr lang="en-IN" dirty="0"/>
                        <a:t>AUTHOR</a:t>
                      </a:r>
                    </a:p>
                  </a:txBody>
                  <a:tcPr>
                    <a:lnB w="12700" cap="flat" cmpd="sng" algn="ctr">
                      <a:solidFill>
                        <a:schemeClr val="tx1"/>
                      </a:solidFill>
                      <a:prstDash val="solid"/>
                      <a:round/>
                      <a:headEnd type="none" w="med" len="med"/>
                      <a:tailEnd type="none" w="med" len="med"/>
                    </a:lnB>
                  </a:tcPr>
                </a:tc>
                <a:tc>
                  <a:txBody>
                    <a:bodyPr/>
                    <a:lstStyle/>
                    <a:p>
                      <a:pPr algn="ctr"/>
                      <a:r>
                        <a:rPr lang="en-IN" dirty="0"/>
                        <a:t>YEAR</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7543229"/>
                  </a:ext>
                </a:extLst>
              </a:tr>
              <a:tr h="459297">
                <a:tc>
                  <a:txBody>
                    <a:bodyPr/>
                    <a:lstStyle/>
                    <a:p>
                      <a:pPr algn="ctr"/>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Smart Home-automatic And Security Based On Sensing Mechanism</a:t>
                      </a:r>
                      <a:endParaRPr lang="en-IN"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IEEE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Mile Mrinal And </a:t>
                      </a:r>
                      <a:r>
                        <a:rPr lang="en-US" dirty="0" err="1"/>
                        <a:t>Lakade</a:t>
                      </a:r>
                      <a:r>
                        <a:rPr lang="en-US" dirty="0"/>
                        <a:t> Priyanka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2017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5392925"/>
                  </a:ext>
                </a:extLst>
              </a:tr>
              <a:tr h="459297">
                <a:tc>
                  <a:txBody>
                    <a:bodyPr/>
                    <a:lstStyle/>
                    <a:p>
                      <a:pPr algn="ctr"/>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Securing IoT For Smart Home System</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IEEE And ISCE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J Freddy And </a:t>
                      </a:r>
                    </a:p>
                    <a:p>
                      <a:pPr algn="ctr"/>
                      <a:r>
                        <a:rPr lang="en-US" dirty="0"/>
                        <a:t>K Santoso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2015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781826"/>
                  </a:ext>
                </a:extLst>
              </a:tr>
              <a:tr h="459297">
                <a:tc>
                  <a:txBody>
                    <a:bodyPr/>
                    <a:lstStyle/>
                    <a:p>
                      <a:pPr algn="ctr"/>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Low Cost Laser Light Security System In Smart Home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CISCT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Ashia Rai And </a:t>
                      </a:r>
                      <a:r>
                        <a:rPr lang="en-US" dirty="0" err="1"/>
                        <a:t>Manaji</a:t>
                      </a:r>
                      <a:r>
                        <a:rPr lang="en-US" dirty="0"/>
                        <a:t> Rai And Nisha Rai</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2019</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0261737"/>
                  </a:ext>
                </a:extLst>
              </a:tr>
              <a:tr h="459297">
                <a:tc>
                  <a:txBody>
                    <a:bodyPr/>
                    <a:lstStyle/>
                    <a:p>
                      <a:pPr algn="ctr"/>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en-IN" dirty="0"/>
                        <a:t>https://www.researchgate.net/publication/362517808_LASER_BASED_SECURITY_SYSTEM_FOR_HOME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3471015586"/>
                  </a:ext>
                </a:extLst>
              </a:tr>
              <a:tr h="459297">
                <a:tc>
                  <a:txBody>
                    <a:bodyPr/>
                    <a:lstStyle/>
                    <a:p>
                      <a:pPr algn="ctr"/>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en-IN" dirty="0"/>
                        <a:t>https://ieeexplore.ieee.org/document/9526425/references#references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3259867859"/>
                  </a:ext>
                </a:extLst>
              </a:tr>
            </a:tbl>
          </a:graphicData>
        </a:graphic>
      </p:graphicFrame>
    </p:spTree>
    <p:extLst>
      <p:ext uri="{BB962C8B-B14F-4D97-AF65-F5344CB8AC3E}">
        <p14:creationId xmlns:p14="http://schemas.microsoft.com/office/powerpoint/2010/main" val="1322388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Rectangle 1"/>
          <p:cNvSpPr/>
          <p:nvPr/>
        </p:nvSpPr>
        <p:spPr>
          <a:xfrm>
            <a:off x="685800" y="381000"/>
            <a:ext cx="7315200" cy="461665"/>
          </a:xfrm>
          <a:prstGeom prst="rect">
            <a:avLst/>
          </a:prstGeom>
        </p:spPr>
        <p:txBody>
          <a:bodyPr wrap="square">
            <a:spAutoFit/>
          </a:bodyPr>
          <a:lstStyle/>
          <a:p>
            <a:r>
              <a:rPr lang="en-US" sz="2400" b="1" dirty="0">
                <a:latin typeface="Times New Roman" pitchFamily="18" charset="0"/>
                <a:cs typeface="Times New Roman" pitchFamily="18" charset="0"/>
              </a:rPr>
              <a:t>LIST OF MODELS:</a:t>
            </a:r>
            <a:endParaRPr lang="en-US" dirty="0"/>
          </a:p>
        </p:txBody>
      </p:sp>
      <p:sp>
        <p:nvSpPr>
          <p:cNvPr id="10" name="Content Placeholder 2">
            <a:extLst>
              <a:ext uri="{FF2B5EF4-FFF2-40B4-BE49-F238E27FC236}">
                <a16:creationId xmlns:a16="http://schemas.microsoft.com/office/drawing/2014/main" id="{678E6C49-09DB-429A-A919-68EC5D083684}"/>
              </a:ext>
            </a:extLst>
          </p:cNvPr>
          <p:cNvSpPr txBox="1">
            <a:spLocks/>
          </p:cNvSpPr>
          <p:nvPr/>
        </p:nvSpPr>
        <p:spPr>
          <a:xfrm>
            <a:off x="457200" y="1332360"/>
            <a:ext cx="8229600" cy="5530626"/>
          </a:xfrm>
          <a:prstGeom prst="rect">
            <a:avLst/>
          </a:prstGeom>
        </p:spPr>
        <p:txBody>
          <a:bodyPr>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itchFamily="34" charset="0"/>
              <a:buNone/>
            </a:pPr>
            <a:r>
              <a:rPr lang="en-IN" sz="3300" dirty="0">
                <a:solidFill>
                  <a:schemeClr val="accent2"/>
                </a:solidFill>
              </a:rPr>
              <a:t>Carpentry : </a:t>
            </a:r>
          </a:p>
          <a:p>
            <a:pPr lvl="1">
              <a:buFont typeface="Wingdings" panose="05000000000000000000" pitchFamily="2" charset="2"/>
              <a:buChar char="§"/>
            </a:pPr>
            <a:r>
              <a:rPr lang="en-IN" sz="2900" dirty="0">
                <a:solidFill>
                  <a:srgbClr val="00B0F0"/>
                </a:solidFill>
              </a:rPr>
              <a:t>Wooden window</a:t>
            </a:r>
          </a:p>
          <a:p>
            <a:pPr lvl="1">
              <a:buFont typeface="Wingdings" panose="05000000000000000000" pitchFamily="2" charset="2"/>
              <a:buChar char="§"/>
            </a:pPr>
            <a:r>
              <a:rPr lang="en-IN" sz="2900" dirty="0">
                <a:solidFill>
                  <a:srgbClr val="00B0F0"/>
                </a:solidFill>
              </a:rPr>
              <a:t>Sliding door</a:t>
            </a:r>
          </a:p>
          <a:p>
            <a:pPr lvl="1">
              <a:buFont typeface="Wingdings" panose="05000000000000000000" pitchFamily="2" charset="2"/>
              <a:buChar char="§"/>
            </a:pPr>
            <a:r>
              <a:rPr lang="en-IN" sz="2900" dirty="0">
                <a:solidFill>
                  <a:srgbClr val="00B0F0"/>
                </a:solidFill>
              </a:rPr>
              <a:t>Wheel chair</a:t>
            </a:r>
          </a:p>
          <a:p>
            <a:pPr lvl="1">
              <a:buFont typeface="Wingdings" panose="05000000000000000000" pitchFamily="2" charset="2"/>
              <a:buChar char="§"/>
            </a:pPr>
            <a:r>
              <a:rPr lang="en-IN" sz="2900" dirty="0">
                <a:solidFill>
                  <a:srgbClr val="00B0F0"/>
                </a:solidFill>
              </a:rPr>
              <a:t>Crank and slotted link</a:t>
            </a:r>
          </a:p>
          <a:p>
            <a:pPr>
              <a:buFont typeface="Arial" pitchFamily="34" charset="0"/>
              <a:buNone/>
            </a:pPr>
            <a:r>
              <a:rPr lang="en-IN" sz="3300" dirty="0">
                <a:solidFill>
                  <a:schemeClr val="accent2">
                    <a:lumMod val="75000"/>
                  </a:schemeClr>
                </a:solidFill>
              </a:rPr>
              <a:t>Electronics :</a:t>
            </a:r>
          </a:p>
          <a:p>
            <a:pPr lvl="1">
              <a:buFont typeface="Wingdings" panose="05000000000000000000" pitchFamily="2" charset="2"/>
              <a:buChar char="§"/>
            </a:pPr>
            <a:r>
              <a:rPr lang="en-IN" sz="2900" dirty="0">
                <a:solidFill>
                  <a:srgbClr val="00B050"/>
                </a:solidFill>
              </a:rPr>
              <a:t>Power supply board </a:t>
            </a:r>
          </a:p>
          <a:p>
            <a:pPr lvl="1">
              <a:buFont typeface="Wingdings" panose="05000000000000000000" pitchFamily="2" charset="2"/>
              <a:buChar char="§"/>
            </a:pPr>
            <a:r>
              <a:rPr lang="en-IN" sz="2900" dirty="0">
                <a:solidFill>
                  <a:srgbClr val="00B050"/>
                </a:solidFill>
              </a:rPr>
              <a:t>Emergency light</a:t>
            </a:r>
          </a:p>
          <a:p>
            <a:pPr lvl="1">
              <a:buFont typeface="Wingdings" panose="05000000000000000000" pitchFamily="2" charset="2"/>
              <a:buChar char="§"/>
            </a:pPr>
            <a:r>
              <a:rPr lang="en-IN" sz="2900" dirty="0">
                <a:solidFill>
                  <a:srgbClr val="00B050"/>
                </a:solidFill>
              </a:rPr>
              <a:t>Relay Board</a:t>
            </a:r>
            <a:endParaRPr lang="en-IN" sz="3300" dirty="0">
              <a:solidFill>
                <a:schemeClr val="accent2">
                  <a:lumMod val="75000"/>
                </a:schemeClr>
              </a:solidFill>
            </a:endParaRPr>
          </a:p>
          <a:p>
            <a:pPr>
              <a:buFont typeface="Arial" pitchFamily="34" charset="0"/>
              <a:buNone/>
            </a:pPr>
            <a:r>
              <a:rPr lang="en-IN" sz="3300" dirty="0">
                <a:solidFill>
                  <a:schemeClr val="accent2">
                    <a:lumMod val="75000"/>
                  </a:schemeClr>
                </a:solidFill>
              </a:rPr>
              <a:t>Machine Shop :</a:t>
            </a:r>
          </a:p>
          <a:p>
            <a:pPr lvl="1">
              <a:buFont typeface="Wingdings" panose="05000000000000000000" pitchFamily="2" charset="2"/>
              <a:buChar char="§"/>
            </a:pPr>
            <a:r>
              <a:rPr lang="en-IN" sz="2900" dirty="0">
                <a:solidFill>
                  <a:srgbClr val="202AFC"/>
                </a:solidFill>
              </a:rPr>
              <a:t>Machine Vice</a:t>
            </a:r>
          </a:p>
          <a:p>
            <a:pPr lvl="1">
              <a:buFont typeface="Wingdings" panose="05000000000000000000" pitchFamily="2" charset="2"/>
              <a:buChar char="§"/>
            </a:pPr>
            <a:r>
              <a:rPr lang="en-IN" sz="2900" dirty="0">
                <a:solidFill>
                  <a:srgbClr val="202AFC"/>
                </a:solidFill>
              </a:rPr>
              <a:t>Bolt and nut assembly</a:t>
            </a:r>
          </a:p>
          <a:p>
            <a:pPr lvl="1">
              <a:buFont typeface="Wingdings" panose="05000000000000000000" pitchFamily="2" charset="2"/>
              <a:buChar char="§"/>
            </a:pPr>
            <a:r>
              <a:rPr lang="en-IN" sz="2900" dirty="0">
                <a:solidFill>
                  <a:srgbClr val="202AFC"/>
                </a:solidFill>
              </a:rPr>
              <a:t>Simple and compound Gear train</a:t>
            </a:r>
          </a:p>
          <a:p>
            <a:pPr lvl="1">
              <a:buFont typeface="Wingdings" panose="05000000000000000000" pitchFamily="2" charset="2"/>
              <a:buChar char="§"/>
            </a:pPr>
            <a:r>
              <a:rPr lang="en-IN" sz="2900" dirty="0">
                <a:solidFill>
                  <a:srgbClr val="202AFC"/>
                </a:solidFill>
              </a:rPr>
              <a:t>Sheet metal tray</a:t>
            </a:r>
          </a:p>
          <a:p>
            <a:pPr marL="457200" lvl="1" indent="0">
              <a:buFont typeface="Arial" pitchFamily="34" charset="0"/>
              <a:buNone/>
            </a:pPr>
            <a:endParaRPr lang="en-IN" sz="2900" dirty="0"/>
          </a:p>
          <a:p>
            <a:pPr marL="457200" lvl="1" indent="0">
              <a:buFont typeface="Arial" pitchFamily="34" charset="0"/>
              <a:buNone/>
            </a:pPr>
            <a:r>
              <a:rPr lang="en-IN" sz="2900" dirty="0"/>
              <a:t>Note : Choose anyone from each category</a:t>
            </a:r>
          </a:p>
          <a:p>
            <a:endParaRPr lang="en-IN" dirty="0"/>
          </a:p>
        </p:txBody>
      </p:sp>
    </p:spTree>
    <p:extLst>
      <p:ext uri="{BB962C8B-B14F-4D97-AF65-F5344CB8AC3E}">
        <p14:creationId xmlns:p14="http://schemas.microsoft.com/office/powerpoint/2010/main" val="32208707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Rectangle 1"/>
          <p:cNvSpPr/>
          <p:nvPr/>
        </p:nvSpPr>
        <p:spPr>
          <a:xfrm>
            <a:off x="457200" y="381000"/>
            <a:ext cx="8001000" cy="738664"/>
          </a:xfrm>
          <a:prstGeom prst="rect">
            <a:avLst/>
          </a:prstGeom>
        </p:spPr>
        <p:txBody>
          <a:bodyPr wrap="square">
            <a:spAutoFit/>
          </a:bodyPr>
          <a:lstStyle/>
          <a:p>
            <a:pPr algn="ctr"/>
            <a:r>
              <a:rPr lang="en-US" sz="2400" b="1" dirty="0">
                <a:latin typeface="Times New Roman" pitchFamily="18" charset="0"/>
                <a:cs typeface="Times New Roman" pitchFamily="18" charset="0"/>
              </a:rPr>
              <a:t>SELECTED MODELS</a:t>
            </a:r>
            <a:r>
              <a:rPr lang="en-US" b="1" dirty="0">
                <a:latin typeface="Times New Roman" pitchFamily="18" charset="0"/>
                <a:cs typeface="Times New Roman" pitchFamily="18" charset="0"/>
              </a:rPr>
              <a:t>   </a:t>
            </a:r>
          </a:p>
          <a:p>
            <a:pPr algn="ctr"/>
            <a:endParaRPr lang="en-US"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CBE5CB90-E8CA-E992-F9B6-EB1D29241E82}"/>
              </a:ext>
            </a:extLst>
          </p:cNvPr>
          <p:cNvSpPr txBox="1"/>
          <p:nvPr/>
        </p:nvSpPr>
        <p:spPr>
          <a:xfrm>
            <a:off x="2286000" y="1447800"/>
            <a:ext cx="4572000" cy="4247317"/>
          </a:xfrm>
          <a:prstGeom prst="rect">
            <a:avLst/>
          </a:prstGeom>
          <a:noFill/>
        </p:spPr>
        <p:txBody>
          <a:bodyPr wrap="square">
            <a:spAutoFit/>
          </a:bodyPr>
          <a:lstStyle/>
          <a:p>
            <a:pPr>
              <a:lnSpc>
                <a:spcPct val="150000"/>
              </a:lnSpc>
            </a:pPr>
            <a:endParaRPr lang="en-US" sz="1800" dirty="0">
              <a:latin typeface="Times New Roman" pitchFamily="18" charset="0"/>
              <a:cs typeface="Times New Roman" pitchFamily="18" charset="0"/>
            </a:endParaRPr>
          </a:p>
          <a:p>
            <a:pPr>
              <a:lnSpc>
                <a:spcPct val="150000"/>
              </a:lnSpc>
            </a:pPr>
            <a:endParaRPr lang="en-US" sz="1800" dirty="0">
              <a:latin typeface="Times New Roman" pitchFamily="18" charset="0"/>
              <a:cs typeface="Times New Roman" pitchFamily="18" charset="0"/>
            </a:endParaRPr>
          </a:p>
          <a:p>
            <a:pPr>
              <a:lnSpc>
                <a:spcPct val="150000"/>
              </a:lnSpc>
              <a:buFont typeface="Arial" pitchFamily="34" charset="0"/>
              <a:buChar char="•"/>
            </a:pPr>
            <a:r>
              <a:rPr lang="en-IN" sz="1800" dirty="0">
                <a:solidFill>
                  <a:schemeClr val="accent2"/>
                </a:solidFill>
              </a:rPr>
              <a:t>CARPENTRY : </a:t>
            </a:r>
            <a:r>
              <a:rPr lang="en-IN" sz="1800" spc="5" dirty="0">
                <a:solidFill>
                  <a:schemeClr val="accent2"/>
                </a:solidFill>
                <a:latin typeface="Times New Roman" panose="02020603050405020304" pitchFamily="18" charset="0"/>
                <a:cs typeface="Times New Roman" panose="02020603050405020304" pitchFamily="18" charset="0"/>
              </a:rPr>
              <a:t>Wheel Chair</a:t>
            </a:r>
            <a:endParaRPr lang="en-IN" sz="1800" dirty="0">
              <a:solidFill>
                <a:schemeClr val="accent2"/>
              </a:solidFill>
              <a:latin typeface="Times New Roman" panose="02020603050405020304" pitchFamily="18" charset="0"/>
              <a:cs typeface="Times New Roman" panose="02020603050405020304" pitchFamily="18" charset="0"/>
            </a:endParaRPr>
          </a:p>
          <a:p>
            <a:pPr>
              <a:lnSpc>
                <a:spcPct val="150000"/>
              </a:lnSpc>
              <a:buFont typeface="Arial" pitchFamily="34" charset="0"/>
              <a:buChar char="•"/>
            </a:pPr>
            <a:r>
              <a:rPr lang="en-IN" sz="1800" dirty="0">
                <a:solidFill>
                  <a:schemeClr val="accent2">
                    <a:lumMod val="75000"/>
                  </a:schemeClr>
                </a:solidFill>
              </a:rPr>
              <a:t>ELECTRONICS : </a:t>
            </a:r>
            <a:r>
              <a:rPr lang="en-IN" sz="1800" dirty="0">
                <a:solidFill>
                  <a:schemeClr val="accent2">
                    <a:lumMod val="75000"/>
                  </a:schemeClr>
                </a:solidFill>
                <a:latin typeface="Times New Roman" panose="02020603050405020304" pitchFamily="18" charset="0"/>
                <a:cs typeface="Times New Roman" panose="02020603050405020304" pitchFamily="18" charset="0"/>
              </a:rPr>
              <a:t>Power Supply Board</a:t>
            </a:r>
          </a:p>
          <a:p>
            <a:pPr>
              <a:lnSpc>
                <a:spcPct val="150000"/>
              </a:lnSpc>
              <a:buFont typeface="Arial" pitchFamily="34" charset="0"/>
              <a:buChar char="•"/>
            </a:pPr>
            <a:r>
              <a:rPr lang="en-IN" sz="1800" dirty="0">
                <a:solidFill>
                  <a:schemeClr val="accent2">
                    <a:lumMod val="75000"/>
                  </a:schemeClr>
                </a:solidFill>
              </a:rPr>
              <a:t>MACHINE SHOP </a:t>
            </a:r>
            <a:r>
              <a:rPr lang="en-IN" sz="1800" dirty="0">
                <a:solidFill>
                  <a:schemeClr val="accent2">
                    <a:lumMod val="75000"/>
                  </a:schemeClr>
                </a:solidFill>
                <a:latin typeface="Times New Roman" panose="02020603050405020304" pitchFamily="18" charset="0"/>
                <a:cs typeface="Times New Roman" panose="02020603050405020304" pitchFamily="18" charset="0"/>
              </a:rPr>
              <a:t>: Boult And Nut Assembly</a:t>
            </a:r>
            <a:endParaRPr lang="en-IN" sz="1800" dirty="0">
              <a:solidFill>
                <a:schemeClr val="accent2">
                  <a:lumMod val="75000"/>
                </a:schemeClr>
              </a:solidFill>
            </a:endParaRPr>
          </a:p>
          <a:p>
            <a:pPr>
              <a:lnSpc>
                <a:spcPct val="150000"/>
              </a:lnSpc>
              <a:buFont typeface="Arial" pitchFamily="34" charset="0"/>
              <a:buChar char="•"/>
            </a:pPr>
            <a:endParaRPr lang="en-IN" sz="1800" dirty="0">
              <a:solidFill>
                <a:schemeClr val="accent2">
                  <a:lumMod val="75000"/>
                </a:schemeClr>
              </a:solidFill>
            </a:endParaRPr>
          </a:p>
          <a:p>
            <a:pPr>
              <a:lnSpc>
                <a:spcPct val="150000"/>
              </a:lnSpc>
              <a:buFont typeface="Arial" pitchFamily="34" charset="0"/>
              <a:buChar char="•"/>
            </a:pPr>
            <a:endParaRPr lang="en-US" sz="1800" dirty="0">
              <a:latin typeface="Times New Roman" pitchFamily="18" charset="0"/>
              <a:cs typeface="Times New Roman" pitchFamily="18" charset="0"/>
            </a:endParaRPr>
          </a:p>
          <a:p>
            <a:pPr>
              <a:lnSpc>
                <a:spcPct val="150000"/>
              </a:lnSpc>
              <a:buFont typeface="Arial" pitchFamily="34" charset="0"/>
              <a:buChar char="•"/>
            </a:pPr>
            <a:endParaRPr lang="en-US" sz="1800" dirty="0">
              <a:latin typeface="Times New Roman" pitchFamily="18" charset="0"/>
              <a:cs typeface="Times New Roman" pitchFamily="18" charset="0"/>
            </a:endParaRPr>
          </a:p>
          <a:p>
            <a:pPr>
              <a:buFont typeface="Arial" pitchFamily="34" charset="0"/>
              <a:buChar char="•"/>
            </a:pPr>
            <a:endParaRPr lang="en-US" dirty="0">
              <a:latin typeface="Times New Roman" pitchFamily="18" charset="0"/>
              <a:cs typeface="Times New Roman" pitchFamily="18" charset="0"/>
            </a:endParaRPr>
          </a:p>
          <a:p>
            <a:pPr>
              <a:buFont typeface="Arial" pitchFamily="34" charset="0"/>
              <a:buChar char="•"/>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a:t>
            </a:r>
          </a:p>
        </p:txBody>
      </p:sp>
    </p:spTree>
    <p:extLst>
      <p:ext uri="{BB962C8B-B14F-4D97-AF65-F5344CB8AC3E}">
        <p14:creationId xmlns:p14="http://schemas.microsoft.com/office/powerpoint/2010/main" val="31081411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7124" y="609600"/>
            <a:ext cx="6570076" cy="400110"/>
          </a:xfrm>
          <a:prstGeom prst="rect">
            <a:avLst/>
          </a:prstGeom>
        </p:spPr>
        <p:txBody>
          <a:bodyPr wrap="square">
            <a:spAutoFit/>
          </a:bodyPr>
          <a:lstStyle/>
          <a:p>
            <a:pPr algn="ctr"/>
            <a:r>
              <a:rPr lang="en-US" sz="2000" b="1" dirty="0">
                <a:latin typeface="Times New Roman" pitchFamily="18" charset="0"/>
                <a:cs typeface="Times New Roman" pitchFamily="18" charset="0"/>
              </a:rPr>
              <a:t>MODEL 1: WHEEL CHAIR</a:t>
            </a:r>
          </a:p>
        </p:txBody>
      </p:sp>
      <p:sp>
        <p:nvSpPr>
          <p:cNvPr id="4" name="Content Placeholder 3"/>
          <p:cNvSpPr>
            <a:spLocks noGrp="1"/>
          </p:cNvSpPr>
          <p:nvPr>
            <p:ph sz="half" idx="1"/>
          </p:nvPr>
        </p:nvSpPr>
        <p:spPr>
          <a:xfrm>
            <a:off x="228600" y="999638"/>
            <a:ext cx="4038600" cy="4525963"/>
          </a:xfrm>
        </p:spPr>
        <p:txBody>
          <a:bodyPr>
            <a:noAutofit/>
          </a:bodyPr>
          <a:lstStyle/>
          <a:p>
            <a:r>
              <a:rPr lang="en-US" sz="2000" b="1" dirty="0">
                <a:latin typeface="Times New Roman" pitchFamily="18" charset="0"/>
                <a:cs typeface="Times New Roman" pitchFamily="18" charset="0"/>
              </a:rPr>
              <a:t>TOOLS USED:</a:t>
            </a:r>
          </a:p>
          <a:p>
            <a:endParaRPr lang="en-US" sz="2000" dirty="0">
              <a:latin typeface="Times New Roman" pitchFamily="18" charset="0"/>
              <a:cs typeface="Times New Roman" pitchFamily="18" charset="0"/>
            </a:endParaRPr>
          </a:p>
          <a:p>
            <a:pPr marL="0" indent="0">
              <a:buNone/>
            </a:pPr>
            <a:r>
              <a:rPr lang="en-US" sz="2000" dirty="0">
                <a:latin typeface="Times New Roman" pitchFamily="18" charset="0"/>
                <a:cs typeface="Times New Roman" pitchFamily="18" charset="0"/>
              </a:rPr>
              <a:t>1.Jackplane</a:t>
            </a:r>
          </a:p>
          <a:p>
            <a:pPr marL="0" indent="0">
              <a:buNone/>
            </a:pPr>
            <a:r>
              <a:rPr lang="en-US" sz="2000" dirty="0">
                <a:latin typeface="Times New Roman" pitchFamily="18" charset="0"/>
                <a:cs typeface="Times New Roman" pitchFamily="18" charset="0"/>
              </a:rPr>
              <a:t>2. Carpentry vice </a:t>
            </a:r>
          </a:p>
          <a:p>
            <a:pPr marL="0" indent="0">
              <a:buNone/>
            </a:pPr>
            <a:r>
              <a:rPr lang="en-US" sz="2000" dirty="0">
                <a:latin typeface="Times New Roman" pitchFamily="18" charset="0"/>
                <a:cs typeface="Times New Roman" pitchFamily="18" charset="0"/>
              </a:rPr>
              <a:t>3. Try square </a:t>
            </a:r>
          </a:p>
          <a:p>
            <a:pPr marL="0" indent="0">
              <a:buNone/>
            </a:pPr>
            <a:r>
              <a:rPr lang="en-US" sz="2000" dirty="0">
                <a:latin typeface="Times New Roman" pitchFamily="18" charset="0"/>
                <a:cs typeface="Times New Roman" pitchFamily="18" charset="0"/>
              </a:rPr>
              <a:t>4. Marking gauge </a:t>
            </a:r>
          </a:p>
          <a:p>
            <a:pPr marL="0" indent="0">
              <a:buNone/>
            </a:pPr>
            <a:r>
              <a:rPr lang="en-US" sz="2000" dirty="0">
                <a:latin typeface="Times New Roman" pitchFamily="18" charset="0"/>
                <a:cs typeface="Times New Roman" pitchFamily="18" charset="0"/>
              </a:rPr>
              <a:t>5. Steel rule </a:t>
            </a:r>
          </a:p>
          <a:p>
            <a:pPr marL="0" indent="0">
              <a:buNone/>
            </a:pPr>
            <a:r>
              <a:rPr lang="en-US" sz="2000" dirty="0">
                <a:latin typeface="Times New Roman" pitchFamily="18" charset="0"/>
                <a:cs typeface="Times New Roman" pitchFamily="18" charset="0"/>
              </a:rPr>
              <a:t>6. Tenon saw            </a:t>
            </a:r>
          </a:p>
          <a:p>
            <a:pPr marL="0" indent="0">
              <a:buNone/>
            </a:pPr>
            <a:r>
              <a:rPr lang="en-US" sz="2000" dirty="0">
                <a:latin typeface="Times New Roman" pitchFamily="18" charset="0"/>
                <a:cs typeface="Times New Roman" pitchFamily="18" charset="0"/>
              </a:rPr>
              <a:t>7. Rip saw                                                  </a:t>
            </a:r>
          </a:p>
          <a:p>
            <a:pPr marL="0" indent="0">
              <a:buNone/>
            </a:pPr>
            <a:r>
              <a:rPr lang="en-US" sz="2000" dirty="0">
                <a:latin typeface="Times New Roman" pitchFamily="18" charset="0"/>
                <a:cs typeface="Times New Roman" pitchFamily="18" charset="0"/>
              </a:rPr>
              <a:t>8. Firmer chisel                                                               9. Mallet</a:t>
            </a:r>
          </a:p>
          <a:p>
            <a:pPr marL="0" indent="0">
              <a:buNone/>
            </a:pPr>
            <a:endParaRPr lang="en-US" sz="2000" dirty="0">
              <a:latin typeface="Times New Roman" pitchFamily="18" charset="0"/>
              <a:cs typeface="Times New Roman" pitchFamily="18" charset="0"/>
            </a:endParaRPr>
          </a:p>
          <a:p>
            <a:r>
              <a:rPr lang="en-US" sz="2000" b="1" dirty="0">
                <a:latin typeface="Times New Roman" pitchFamily="18" charset="0"/>
                <a:cs typeface="Times New Roman" pitchFamily="18" charset="0"/>
              </a:rPr>
              <a:t>MATERIALS REQUIRED:</a:t>
            </a:r>
          </a:p>
          <a:p>
            <a:endParaRPr lang="en-US" sz="2000" b="1" dirty="0">
              <a:latin typeface="Times New Roman" pitchFamily="18" charset="0"/>
              <a:cs typeface="Times New Roman" pitchFamily="18" charset="0"/>
            </a:endParaRPr>
          </a:p>
          <a:p>
            <a:pPr marL="0" indent="0">
              <a:buNone/>
            </a:pPr>
            <a:r>
              <a:rPr lang="en-US" sz="2000" dirty="0">
                <a:latin typeface="Times New Roman" pitchFamily="18" charset="0"/>
                <a:cs typeface="Times New Roman" pitchFamily="18" charset="0"/>
              </a:rPr>
              <a:t>Soft wood, ply wood, screw, Nails, hinges.</a:t>
            </a: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
        <p:nvSpPr>
          <p:cNvPr id="6" name="Content Placeholder 5">
            <a:extLst>
              <a:ext uri="{FF2B5EF4-FFF2-40B4-BE49-F238E27FC236}">
                <a16:creationId xmlns:a16="http://schemas.microsoft.com/office/drawing/2014/main" id="{58BB490F-1194-48F2-81CF-E3569579725F}"/>
              </a:ext>
            </a:extLst>
          </p:cNvPr>
          <p:cNvSpPr>
            <a:spLocks noGrp="1"/>
          </p:cNvSpPr>
          <p:nvPr>
            <p:ph sz="half" idx="2"/>
          </p:nvPr>
        </p:nvSpPr>
        <p:spPr/>
        <p:txBody>
          <a:bodyPr>
            <a:normAutofit/>
          </a:bodyPr>
          <a:lstStyle/>
          <a:p>
            <a:r>
              <a:rPr lang="en-US" dirty="0"/>
              <a:t> </a:t>
            </a:r>
            <a:endParaRPr lang="en-IN" dirty="0"/>
          </a:p>
        </p:txBody>
      </p:sp>
      <p:pic>
        <p:nvPicPr>
          <p:cNvPr id="3" name="Picture 2">
            <a:extLst>
              <a:ext uri="{FF2B5EF4-FFF2-40B4-BE49-F238E27FC236}">
                <a16:creationId xmlns:a16="http://schemas.microsoft.com/office/drawing/2014/main" id="{35FCF5AE-4E13-2DAC-621B-9471BCE7300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8200" y="1752599"/>
            <a:ext cx="2667000" cy="399673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609600"/>
            <a:ext cx="7696200" cy="677108"/>
          </a:xfrm>
          <a:prstGeom prst="rect">
            <a:avLst/>
          </a:prstGeom>
        </p:spPr>
        <p:txBody>
          <a:bodyPr wrap="square">
            <a:spAutoFit/>
          </a:bodyPr>
          <a:lstStyle/>
          <a:p>
            <a:pPr algn="ctr"/>
            <a:r>
              <a:rPr lang="en-US" sz="2000" b="1" dirty="0">
                <a:latin typeface="Times New Roman" pitchFamily="18" charset="0"/>
                <a:cs typeface="Times New Roman" pitchFamily="18" charset="0"/>
              </a:rPr>
              <a:t>ELECTRONICS:POWER SUPPLY BOARD</a:t>
            </a:r>
          </a:p>
          <a:p>
            <a:pPr algn="ctr"/>
            <a:endParaRPr lang="en-US" dirty="0"/>
          </a:p>
        </p:txBody>
      </p:sp>
      <p:sp>
        <p:nvSpPr>
          <p:cNvPr id="6" name="Content Placeholder 3"/>
          <p:cNvSpPr txBox="1">
            <a:spLocks/>
          </p:cNvSpPr>
          <p:nvPr/>
        </p:nvSpPr>
        <p:spPr>
          <a:xfrm>
            <a:off x="457200" y="1600200"/>
            <a:ext cx="4038600" cy="4525963"/>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itchFamily="18" charset="0"/>
              </a:rPr>
              <a:t>TOOLS REQUIRED</a:t>
            </a:r>
            <a:r>
              <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itchFamily="18" charset="0"/>
              </a:rPr>
              <a:t>:</a:t>
            </a:r>
          </a:p>
          <a:p>
            <a:pPr marL="12065">
              <a:lnSpc>
                <a:spcPct val="100000"/>
              </a:lnSpc>
              <a:spcBef>
                <a:spcPts val="5"/>
              </a:spcBef>
              <a:tabLst>
                <a:tab pos="355600" algn="l"/>
                <a:tab pos="356235" algn="l"/>
              </a:tabLst>
            </a:pPr>
            <a:r>
              <a:rPr lang="en-US" sz="2000" spc="-15" dirty="0">
                <a:latin typeface="Times New Roman" panose="02020603050405020304" pitchFamily="18" charset="0"/>
                <a:ea typeface="Calibri Light" panose="020F0302020204030204" pitchFamily="34" charset="0"/>
                <a:cs typeface="Times New Roman" panose="02020603050405020304" pitchFamily="18" charset="0"/>
              </a:rPr>
              <a:t>1.DIODES</a:t>
            </a:r>
            <a:endParaRPr lang="en-US" sz="2000" dirty="0">
              <a:latin typeface="Times New Roman" panose="02020603050405020304" pitchFamily="18" charset="0"/>
              <a:ea typeface="Calibri Light" panose="020F0302020204030204" pitchFamily="34" charset="0"/>
              <a:cs typeface="Times New Roman" panose="02020603050405020304" pitchFamily="18" charset="0"/>
            </a:endParaRPr>
          </a:p>
          <a:p>
            <a:pPr marL="12065">
              <a:lnSpc>
                <a:spcPts val="2130"/>
              </a:lnSpc>
              <a:spcBef>
                <a:spcPts val="15"/>
              </a:spcBef>
              <a:tabLst>
                <a:tab pos="355600" algn="l"/>
                <a:tab pos="356235" algn="l"/>
              </a:tabLst>
            </a:pPr>
            <a:r>
              <a:rPr lang="en-US" sz="2000" spc="-40" dirty="0">
                <a:latin typeface="Times New Roman" panose="02020603050405020304" pitchFamily="18" charset="0"/>
                <a:ea typeface="Calibri Light" panose="020F0302020204030204" pitchFamily="34" charset="0"/>
                <a:cs typeface="Times New Roman" panose="02020603050405020304" pitchFamily="18" charset="0"/>
              </a:rPr>
              <a:t>2.CAPACITORS</a:t>
            </a:r>
            <a:endParaRPr lang="en-US" sz="2000" dirty="0">
              <a:latin typeface="Times New Roman" panose="02020603050405020304" pitchFamily="18" charset="0"/>
              <a:ea typeface="Calibri Light" panose="020F0302020204030204" pitchFamily="34" charset="0"/>
              <a:cs typeface="Times New Roman" panose="02020603050405020304" pitchFamily="18" charset="0"/>
            </a:endParaRPr>
          </a:p>
          <a:p>
            <a:pPr marL="12065">
              <a:lnSpc>
                <a:spcPts val="2130"/>
              </a:lnSpc>
              <a:tabLst>
                <a:tab pos="355600" algn="l"/>
                <a:tab pos="356235" algn="l"/>
              </a:tabLst>
            </a:pPr>
            <a:r>
              <a:rPr lang="en-US" sz="2000" spc="-15" dirty="0">
                <a:latin typeface="Times New Roman" panose="02020603050405020304" pitchFamily="18" charset="0"/>
                <a:ea typeface="Calibri Light" panose="020F0302020204030204" pitchFamily="34" charset="0"/>
                <a:cs typeface="Times New Roman" panose="02020603050405020304" pitchFamily="18" charset="0"/>
              </a:rPr>
              <a:t>3.TRANFORMER</a:t>
            </a:r>
            <a:endParaRPr lang="en-US" sz="2000" dirty="0">
              <a:latin typeface="Times New Roman" panose="02020603050405020304" pitchFamily="18" charset="0"/>
              <a:ea typeface="Calibri Light" panose="020F0302020204030204" pitchFamily="34" charset="0"/>
              <a:cs typeface="Times New Roman" panose="02020603050405020304" pitchFamily="18" charset="0"/>
            </a:endParaRPr>
          </a:p>
          <a:p>
            <a:pPr marL="12065">
              <a:lnSpc>
                <a:spcPct val="100000"/>
              </a:lnSpc>
              <a:spcBef>
                <a:spcPts val="20"/>
              </a:spcBef>
              <a:tabLst>
                <a:tab pos="355600" algn="l"/>
                <a:tab pos="356235" algn="l"/>
              </a:tabLst>
            </a:pPr>
            <a:r>
              <a:rPr lang="en-US" sz="2000" spc="-5" dirty="0">
                <a:latin typeface="Times New Roman" panose="02020603050405020304" pitchFamily="18" charset="0"/>
                <a:ea typeface="Calibri Light" panose="020F0302020204030204" pitchFamily="34" charset="0"/>
                <a:cs typeface="Times New Roman" panose="02020603050405020304" pitchFamily="18" charset="0"/>
              </a:rPr>
              <a:t>4.LED</a:t>
            </a:r>
            <a:endParaRPr lang="en-US" sz="2000" dirty="0">
              <a:latin typeface="Times New Roman" panose="02020603050405020304" pitchFamily="18" charset="0"/>
              <a:ea typeface="Calibri Light" panose="020F0302020204030204" pitchFamily="34" charset="0"/>
              <a:cs typeface="Times New Roman" panose="02020603050405020304" pitchFamily="18" charset="0"/>
            </a:endParaRPr>
          </a:p>
          <a:p>
            <a:pPr marL="12065">
              <a:lnSpc>
                <a:spcPct val="100000"/>
              </a:lnSpc>
              <a:spcBef>
                <a:spcPts val="15"/>
              </a:spcBef>
              <a:tabLst>
                <a:tab pos="355600" algn="l"/>
                <a:tab pos="356235" algn="l"/>
              </a:tabLst>
            </a:pPr>
            <a:r>
              <a:rPr lang="en-US" sz="2000" spc="-70" dirty="0">
                <a:latin typeface="Times New Roman" panose="02020603050405020304" pitchFamily="18" charset="0"/>
                <a:ea typeface="Calibri Light" panose="020F0302020204030204" pitchFamily="34" charset="0"/>
                <a:cs typeface="Times New Roman" panose="02020603050405020304" pitchFamily="18" charset="0"/>
              </a:rPr>
              <a:t>5..VOLTAGE</a:t>
            </a:r>
            <a:r>
              <a:rPr lang="en-US" sz="2000" spc="114" dirty="0">
                <a:latin typeface="Times New Roman" panose="02020603050405020304" pitchFamily="18" charset="0"/>
                <a:ea typeface="Calibri Light" panose="020F0302020204030204" pitchFamily="34" charset="0"/>
                <a:cs typeface="Times New Roman" panose="02020603050405020304" pitchFamily="18" charset="0"/>
              </a:rPr>
              <a:t> </a:t>
            </a:r>
            <a:r>
              <a:rPr lang="en-US" sz="2000" spc="-40" dirty="0">
                <a:latin typeface="Times New Roman" panose="02020603050405020304" pitchFamily="18" charset="0"/>
                <a:ea typeface="Calibri Light" panose="020F0302020204030204" pitchFamily="34" charset="0"/>
                <a:cs typeface="Times New Roman" panose="02020603050405020304" pitchFamily="18" charset="0"/>
              </a:rPr>
              <a:t>REGULATOR</a:t>
            </a:r>
            <a:endParaRPr lang="en-US" sz="2000" dirty="0">
              <a:latin typeface="Times New Roman" panose="02020603050405020304" pitchFamily="18" charset="0"/>
              <a:ea typeface="Calibri Light" panose="020F0302020204030204" pitchFamily="34" charset="0"/>
              <a:cs typeface="Times New Roman" panose="02020603050405020304" pitchFamily="18" charset="0"/>
            </a:endParaRPr>
          </a:p>
          <a:p>
            <a:pPr marL="12065">
              <a:lnSpc>
                <a:spcPct val="100000"/>
              </a:lnSpc>
              <a:spcBef>
                <a:spcPts val="20"/>
              </a:spcBef>
              <a:tabLst>
                <a:tab pos="355600" algn="l"/>
                <a:tab pos="356235" algn="l"/>
              </a:tabLst>
            </a:pPr>
            <a:r>
              <a:rPr lang="en-US" sz="2000" spc="-30" dirty="0">
                <a:latin typeface="Times New Roman" panose="02020603050405020304" pitchFamily="18" charset="0"/>
                <a:ea typeface="Calibri Light" panose="020F0302020204030204" pitchFamily="34" charset="0"/>
                <a:cs typeface="Times New Roman" panose="02020603050405020304" pitchFamily="18" charset="0"/>
              </a:rPr>
              <a:t>6.SIN</a:t>
            </a:r>
            <a:r>
              <a:rPr lang="en-US" sz="2000" spc="-55" dirty="0">
                <a:latin typeface="Times New Roman" panose="02020603050405020304" pitchFamily="18" charset="0"/>
                <a:ea typeface="Calibri Light" panose="020F0302020204030204" pitchFamily="34" charset="0"/>
                <a:cs typeface="Times New Roman" panose="02020603050405020304" pitchFamily="18" charset="0"/>
              </a:rPr>
              <a:t>G</a:t>
            </a:r>
            <a:r>
              <a:rPr lang="en-US" sz="2000" dirty="0">
                <a:latin typeface="Times New Roman" panose="02020603050405020304" pitchFamily="18" charset="0"/>
                <a:ea typeface="Calibri Light" panose="020F0302020204030204" pitchFamily="34" charset="0"/>
                <a:cs typeface="Times New Roman" panose="02020603050405020304" pitchFamily="18" charset="0"/>
              </a:rPr>
              <a:t>LE</a:t>
            </a:r>
            <a:r>
              <a:rPr lang="en-US" sz="2000" spc="140" dirty="0">
                <a:latin typeface="Times New Roman" panose="02020603050405020304" pitchFamily="18" charset="0"/>
                <a:ea typeface="Calibri Light" panose="020F0302020204030204" pitchFamily="34" charset="0"/>
                <a:cs typeface="Times New Roman" panose="02020603050405020304" pitchFamily="18" charset="0"/>
              </a:rPr>
              <a:t> </a:t>
            </a:r>
            <a:r>
              <a:rPr lang="en-US" sz="2000" spc="-30" dirty="0">
                <a:latin typeface="Times New Roman" panose="02020603050405020304" pitchFamily="18" charset="0"/>
                <a:ea typeface="Calibri Light" panose="020F0302020204030204" pitchFamily="34" charset="0"/>
                <a:cs typeface="Times New Roman" panose="02020603050405020304" pitchFamily="18" charset="0"/>
              </a:rPr>
              <a:t>SID</a:t>
            </a:r>
            <a:r>
              <a:rPr lang="en-US" sz="2000" dirty="0">
                <a:latin typeface="Times New Roman" panose="02020603050405020304" pitchFamily="18" charset="0"/>
                <a:ea typeface="Calibri Light" panose="020F0302020204030204" pitchFamily="34" charset="0"/>
                <a:cs typeface="Times New Roman" panose="02020603050405020304" pitchFamily="18" charset="0"/>
              </a:rPr>
              <a:t>E</a:t>
            </a:r>
            <a:r>
              <a:rPr lang="en-US" sz="2000" spc="70" dirty="0">
                <a:latin typeface="Times New Roman" panose="02020603050405020304" pitchFamily="18" charset="0"/>
                <a:ea typeface="Calibri Light" panose="020F0302020204030204" pitchFamily="34" charset="0"/>
                <a:cs typeface="Times New Roman" panose="02020603050405020304" pitchFamily="18" charset="0"/>
              </a:rPr>
              <a:t> </a:t>
            </a:r>
            <a:r>
              <a:rPr lang="en-US" sz="2000" spc="-30" dirty="0">
                <a:latin typeface="Times New Roman" panose="02020603050405020304" pitchFamily="18" charset="0"/>
                <a:ea typeface="Calibri Light" panose="020F0302020204030204" pitchFamily="34" charset="0"/>
                <a:cs typeface="Times New Roman" panose="02020603050405020304" pitchFamily="18" charset="0"/>
              </a:rPr>
              <a:t>C</a:t>
            </a:r>
            <a:r>
              <a:rPr lang="en-US" sz="2000" spc="20" dirty="0">
                <a:latin typeface="Times New Roman" panose="02020603050405020304" pitchFamily="18" charset="0"/>
                <a:ea typeface="Calibri Light" panose="020F0302020204030204" pitchFamily="34" charset="0"/>
                <a:cs typeface="Times New Roman" panose="02020603050405020304" pitchFamily="18" charset="0"/>
              </a:rPr>
              <a:t>OPP</a:t>
            </a:r>
            <a:r>
              <a:rPr lang="en-US" sz="2000" dirty="0">
                <a:latin typeface="Times New Roman" panose="02020603050405020304" pitchFamily="18" charset="0"/>
                <a:ea typeface="Calibri Light" panose="020F0302020204030204" pitchFamily="34" charset="0"/>
                <a:cs typeface="Times New Roman" panose="02020603050405020304" pitchFamily="18" charset="0"/>
              </a:rPr>
              <a:t>ER</a:t>
            </a:r>
            <a:r>
              <a:rPr lang="en-US" sz="2000" spc="-105" dirty="0">
                <a:latin typeface="Times New Roman" panose="02020603050405020304" pitchFamily="18" charset="0"/>
                <a:ea typeface="Calibri Light" panose="020F0302020204030204" pitchFamily="34" charset="0"/>
                <a:cs typeface="Times New Roman" panose="02020603050405020304" pitchFamily="18" charset="0"/>
              </a:rPr>
              <a:t> </a:t>
            </a:r>
          </a:p>
          <a:p>
            <a:pPr marL="12065">
              <a:lnSpc>
                <a:spcPct val="100000"/>
              </a:lnSpc>
              <a:spcBef>
                <a:spcPts val="20"/>
              </a:spcBef>
              <a:tabLst>
                <a:tab pos="355600" algn="l"/>
                <a:tab pos="356235" algn="l"/>
              </a:tabLst>
            </a:pPr>
            <a:r>
              <a:rPr lang="en-US" sz="2000" spc="-30" dirty="0">
                <a:latin typeface="Times New Roman" panose="02020603050405020304" pitchFamily="18" charset="0"/>
                <a:ea typeface="Calibri Light" panose="020F0302020204030204" pitchFamily="34" charset="0"/>
                <a:cs typeface="Times New Roman" panose="02020603050405020304" pitchFamily="18" charset="0"/>
              </a:rPr>
              <a:t>C</a:t>
            </a:r>
            <a:r>
              <a:rPr lang="en-US" sz="2000" dirty="0">
                <a:latin typeface="Times New Roman" panose="02020603050405020304" pitchFamily="18" charset="0"/>
                <a:ea typeface="Calibri Light" panose="020F0302020204030204" pitchFamily="34" charset="0"/>
                <a:cs typeface="Times New Roman" panose="02020603050405020304" pitchFamily="18" charset="0"/>
              </a:rPr>
              <a:t>L</a:t>
            </a:r>
            <a:r>
              <a:rPr lang="en-US" sz="2000" spc="-30" dirty="0">
                <a:latin typeface="Times New Roman" panose="02020603050405020304" pitchFamily="18" charset="0"/>
                <a:ea typeface="Calibri Light" panose="020F0302020204030204" pitchFamily="34" charset="0"/>
                <a:cs typeface="Times New Roman" panose="02020603050405020304" pitchFamily="18" charset="0"/>
              </a:rPr>
              <a:t>A</a:t>
            </a:r>
            <a:r>
              <a:rPr lang="en-US" sz="2000" dirty="0">
                <a:latin typeface="Times New Roman" panose="02020603050405020304" pitchFamily="18" charset="0"/>
                <a:ea typeface="Calibri Light" panose="020F0302020204030204" pitchFamily="34" charset="0"/>
                <a:cs typeface="Times New Roman" panose="02020603050405020304" pitchFamily="18" charset="0"/>
              </a:rPr>
              <a:t>D</a:t>
            </a:r>
            <a:r>
              <a:rPr lang="en-US" sz="2000" spc="45" dirty="0">
                <a:latin typeface="Times New Roman" panose="02020603050405020304" pitchFamily="18" charset="0"/>
                <a:ea typeface="Calibri Light" panose="020F0302020204030204" pitchFamily="34" charset="0"/>
                <a:cs typeface="Times New Roman" panose="02020603050405020304" pitchFamily="18" charset="0"/>
              </a:rPr>
              <a:t> </a:t>
            </a:r>
            <a:r>
              <a:rPr lang="en-US" sz="2000" spc="20" dirty="0">
                <a:latin typeface="Times New Roman" panose="02020603050405020304" pitchFamily="18" charset="0"/>
                <a:ea typeface="Calibri Light" panose="020F0302020204030204" pitchFamily="34" charset="0"/>
                <a:cs typeface="Times New Roman" panose="02020603050405020304" pitchFamily="18" charset="0"/>
              </a:rPr>
              <a:t>P</a:t>
            </a:r>
            <a:r>
              <a:rPr lang="en-US" sz="2000" spc="-30" dirty="0">
                <a:latin typeface="Times New Roman" panose="02020603050405020304" pitchFamily="18" charset="0"/>
                <a:ea typeface="Calibri Light" panose="020F0302020204030204" pitchFamily="34" charset="0"/>
                <a:cs typeface="Times New Roman" panose="02020603050405020304" pitchFamily="18" charset="0"/>
              </a:rPr>
              <a:t>C</a:t>
            </a:r>
            <a:r>
              <a:rPr lang="en-US" sz="2000" dirty="0">
                <a:latin typeface="Times New Roman" panose="02020603050405020304" pitchFamily="18" charset="0"/>
                <a:ea typeface="Calibri Light" panose="020F0302020204030204" pitchFamily="34" charset="0"/>
                <a:cs typeface="Times New Roman" panose="02020603050405020304" pitchFamily="18" charset="0"/>
              </a:rPr>
              <a:t>B</a:t>
            </a:r>
          </a:p>
          <a:p>
            <a:pPr marL="12065">
              <a:lnSpc>
                <a:spcPct val="100000"/>
              </a:lnSpc>
              <a:spcBef>
                <a:spcPts val="20"/>
              </a:spcBef>
              <a:tabLst>
                <a:tab pos="355600" algn="l"/>
                <a:tab pos="356235" algn="l"/>
              </a:tabLst>
            </a:pPr>
            <a:r>
              <a:rPr lang="en-US" sz="2000" spc="-30" dirty="0">
                <a:latin typeface="Times New Roman" panose="02020603050405020304" pitchFamily="18" charset="0"/>
                <a:ea typeface="Calibri Light" panose="020F0302020204030204" pitchFamily="34" charset="0"/>
                <a:cs typeface="Times New Roman" panose="02020603050405020304" pitchFamily="18" charset="0"/>
              </a:rPr>
              <a:t>7.RI</a:t>
            </a:r>
            <a:r>
              <a:rPr lang="en-US" sz="2000" dirty="0">
                <a:latin typeface="Times New Roman" panose="02020603050405020304" pitchFamily="18" charset="0"/>
                <a:ea typeface="Calibri Light" panose="020F0302020204030204" pitchFamily="34" charset="0"/>
                <a:cs typeface="Times New Roman" panose="02020603050405020304" pitchFamily="18" charset="0"/>
              </a:rPr>
              <a:t>LEY</a:t>
            </a:r>
            <a:r>
              <a:rPr lang="en-US" sz="2000" spc="-35" dirty="0">
                <a:latin typeface="Times New Roman" panose="02020603050405020304" pitchFamily="18" charset="0"/>
                <a:ea typeface="Calibri Light" panose="020F0302020204030204" pitchFamily="34" charset="0"/>
                <a:cs typeface="Times New Roman" panose="02020603050405020304" pitchFamily="18" charset="0"/>
              </a:rPr>
              <a:t> </a:t>
            </a:r>
            <a:r>
              <a:rPr lang="en-US" sz="2000" dirty="0">
                <a:latin typeface="Times New Roman" panose="02020603050405020304" pitchFamily="18" charset="0"/>
                <a:ea typeface="Calibri Light" panose="020F0302020204030204" pitchFamily="34" charset="0"/>
                <a:cs typeface="Times New Roman" panose="02020603050405020304" pitchFamily="18" charset="0"/>
              </a:rPr>
              <a:t>B</a:t>
            </a:r>
            <a:r>
              <a:rPr lang="en-US" sz="2000" spc="15" dirty="0">
                <a:latin typeface="Times New Roman" panose="02020603050405020304" pitchFamily="18" charset="0"/>
                <a:ea typeface="Calibri Light" panose="020F0302020204030204" pitchFamily="34" charset="0"/>
                <a:cs typeface="Times New Roman" panose="02020603050405020304" pitchFamily="18" charset="0"/>
              </a:rPr>
              <a:t>O</a:t>
            </a:r>
            <a:r>
              <a:rPr lang="en-US" sz="2000" spc="-30" dirty="0">
                <a:latin typeface="Times New Roman" panose="02020603050405020304" pitchFamily="18" charset="0"/>
                <a:ea typeface="Calibri Light" panose="020F0302020204030204" pitchFamily="34" charset="0"/>
                <a:cs typeface="Times New Roman" panose="02020603050405020304" pitchFamily="18" charset="0"/>
              </a:rPr>
              <a:t>AR</a:t>
            </a:r>
            <a:r>
              <a:rPr lang="en-US" sz="2000" dirty="0">
                <a:latin typeface="Times New Roman" panose="02020603050405020304" pitchFamily="18" charset="0"/>
                <a:ea typeface="Calibri Light" panose="020F0302020204030204" pitchFamily="34" charset="0"/>
                <a:cs typeface="Times New Roman" panose="02020603050405020304" pitchFamily="18" charset="0"/>
              </a:rPr>
              <a:t>D</a:t>
            </a:r>
            <a:r>
              <a:rPr lang="en-US" sz="2000" dirty="0">
                <a:latin typeface="Times New Roman" panose="02020603050405020304" pitchFamily="18" charset="0"/>
                <a:cs typeface="Times New Roman" pitchFamily="18" charset="0"/>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000" b="1" dirty="0">
                <a:latin typeface="Times New Roman" panose="02020603050405020304" pitchFamily="18" charset="0"/>
                <a:cs typeface="Times New Roman" pitchFamily="18" charset="0"/>
              </a:rPr>
              <a:t>SKILLS LEARNED:</a:t>
            </a:r>
          </a:p>
          <a:p>
            <a:pPr marL="12065">
              <a:lnSpc>
                <a:spcPct val="100000"/>
              </a:lnSpc>
              <a:spcBef>
                <a:spcPts val="100"/>
              </a:spcBef>
              <a:tabLst>
                <a:tab pos="298450" algn="l"/>
                <a:tab pos="299085" algn="l"/>
              </a:tabLst>
            </a:pPr>
            <a:r>
              <a:rPr lang="en-IN" sz="2000" spc="-20" dirty="0">
                <a:latin typeface="Times New Roman" panose="02020603050405020304" pitchFamily="18" charset="0"/>
                <a:ea typeface="Calibri Light" panose="020F0302020204030204" pitchFamily="34" charset="0"/>
                <a:cs typeface="Times New Roman" panose="02020603050405020304" pitchFamily="18" charset="0"/>
              </a:rPr>
              <a:t>1.DRILLING</a:t>
            </a:r>
            <a:endParaRPr lang="en-IN" sz="2000" dirty="0">
              <a:latin typeface="Times New Roman" panose="02020603050405020304" pitchFamily="18" charset="0"/>
              <a:ea typeface="Calibri Light" panose="020F0302020204030204" pitchFamily="34" charset="0"/>
              <a:cs typeface="Times New Roman" panose="02020603050405020304" pitchFamily="18" charset="0"/>
            </a:endParaRPr>
          </a:p>
          <a:p>
            <a:pPr marL="12065">
              <a:lnSpc>
                <a:spcPts val="2130"/>
              </a:lnSpc>
              <a:spcBef>
                <a:spcPts val="20"/>
              </a:spcBef>
              <a:tabLst>
                <a:tab pos="298450" algn="l"/>
                <a:tab pos="299085" algn="l"/>
              </a:tabLst>
            </a:pPr>
            <a:r>
              <a:rPr lang="en-IN" sz="2000" spc="-30" dirty="0">
                <a:latin typeface="Times New Roman" panose="02020603050405020304" pitchFamily="18" charset="0"/>
                <a:ea typeface="Calibri Light" panose="020F0302020204030204" pitchFamily="34" charset="0"/>
                <a:cs typeface="Times New Roman" panose="02020603050405020304" pitchFamily="18" charset="0"/>
              </a:rPr>
              <a:t>2.S</a:t>
            </a:r>
            <a:r>
              <a:rPr lang="en-IN" sz="2000" spc="20" dirty="0">
                <a:latin typeface="Times New Roman" panose="02020603050405020304" pitchFamily="18" charset="0"/>
                <a:ea typeface="Calibri Light" panose="020F0302020204030204" pitchFamily="34" charset="0"/>
                <a:cs typeface="Times New Roman" panose="02020603050405020304" pitchFamily="18" charset="0"/>
              </a:rPr>
              <a:t>O</a:t>
            </a:r>
            <a:r>
              <a:rPr lang="en-IN" sz="2000" dirty="0">
                <a:latin typeface="Times New Roman" panose="02020603050405020304" pitchFamily="18" charset="0"/>
                <a:ea typeface="Calibri Light" panose="020F0302020204030204" pitchFamily="34" charset="0"/>
                <a:cs typeface="Times New Roman" panose="02020603050405020304" pitchFamily="18" charset="0"/>
              </a:rPr>
              <a:t>L</a:t>
            </a:r>
            <a:r>
              <a:rPr lang="en-IN" sz="2000" spc="-30" dirty="0">
                <a:latin typeface="Times New Roman" panose="02020603050405020304" pitchFamily="18" charset="0"/>
                <a:ea typeface="Calibri Light" panose="020F0302020204030204" pitchFamily="34" charset="0"/>
                <a:cs typeface="Times New Roman" panose="02020603050405020304" pitchFamily="18" charset="0"/>
              </a:rPr>
              <a:t>D</a:t>
            </a:r>
            <a:r>
              <a:rPr lang="en-IN" sz="2000" dirty="0">
                <a:latin typeface="Times New Roman" panose="02020603050405020304" pitchFamily="18" charset="0"/>
                <a:ea typeface="Calibri Light" panose="020F0302020204030204" pitchFamily="34" charset="0"/>
                <a:cs typeface="Times New Roman" panose="02020603050405020304" pitchFamily="18" charset="0"/>
              </a:rPr>
              <a:t>E</a:t>
            </a:r>
            <a:r>
              <a:rPr lang="en-IN" sz="2000" spc="-30" dirty="0">
                <a:latin typeface="Times New Roman" panose="02020603050405020304" pitchFamily="18" charset="0"/>
                <a:ea typeface="Calibri Light" panose="020F0302020204030204" pitchFamily="34" charset="0"/>
                <a:cs typeface="Times New Roman" panose="02020603050405020304" pitchFamily="18" charset="0"/>
              </a:rPr>
              <a:t>RIN</a:t>
            </a:r>
            <a:r>
              <a:rPr lang="en-IN" sz="2000" dirty="0">
                <a:latin typeface="Times New Roman" panose="02020603050405020304" pitchFamily="18" charset="0"/>
                <a:ea typeface="Calibri Light" panose="020F0302020204030204" pitchFamily="34" charset="0"/>
                <a:cs typeface="Times New Roman" panose="02020603050405020304" pitchFamily="18" charset="0"/>
              </a:rPr>
              <a:t>G</a:t>
            </a:r>
          </a:p>
          <a:p>
            <a:pPr marL="12065">
              <a:lnSpc>
                <a:spcPts val="2130"/>
              </a:lnSpc>
              <a:tabLst>
                <a:tab pos="298450" algn="l"/>
                <a:tab pos="299085" algn="l"/>
              </a:tabLst>
            </a:pPr>
            <a:r>
              <a:rPr lang="en-IN" sz="2000" spc="-20" dirty="0">
                <a:latin typeface="Times New Roman" panose="02020603050405020304" pitchFamily="18" charset="0"/>
                <a:ea typeface="Calibri Light" panose="020F0302020204030204" pitchFamily="34" charset="0"/>
                <a:cs typeface="Times New Roman" panose="02020603050405020304" pitchFamily="18" charset="0"/>
              </a:rPr>
              <a:t>3.IRONIN</a:t>
            </a:r>
            <a:r>
              <a:rPr lang="en-IN" sz="2000" b="1" spc="-20" dirty="0">
                <a:latin typeface="Times New Roman" panose="02020603050405020304" pitchFamily="18" charset="0"/>
                <a:ea typeface="Calibri Light" panose="020F0302020204030204" pitchFamily="34" charset="0"/>
                <a:cs typeface="Times New Roman" panose="02020603050405020304" pitchFamily="18" charset="0"/>
              </a:rPr>
              <a:t>G</a:t>
            </a:r>
            <a:endParaRPr lang="en-IN" sz="2000" dirty="0">
              <a:latin typeface="Times New Roman" panose="02020603050405020304" pitchFamily="18" charset="0"/>
              <a:ea typeface="Calibri Light" panose="020F03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a:latin typeface="Times New Roman" panose="02020603050405020304" pitchFamily="18" charset="0"/>
              <a:cs typeface="Times New Roman" pitchFamily="18" charset="0"/>
            </a:endParaRPr>
          </a:p>
        </p:txBody>
      </p:sp>
      <p:sp>
        <p:nvSpPr>
          <p:cNvPr id="7" name="Content Placeholder 4"/>
          <p:cNvSpPr txBox="1">
            <a:spLocks/>
          </p:cNvSpPr>
          <p:nvPr/>
        </p:nvSpPr>
        <p:spPr>
          <a:xfrm>
            <a:off x="4503821" y="1146340"/>
            <a:ext cx="3810000" cy="304799"/>
          </a:xfrm>
          <a:prstGeom prst="rect">
            <a:avLst/>
          </a:prstGeom>
          <a:solidFill>
            <a:srgbClr val="00B050"/>
          </a:solidFill>
        </p:spPr>
        <p:txBody>
          <a:bodyPr>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6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Image of the Design Diagram</a:t>
            </a:r>
          </a:p>
        </p:txBody>
      </p:sp>
      <p:sp>
        <p:nvSpPr>
          <p:cNvPr id="8" name="TextBox 7">
            <a:extLst>
              <a:ext uri="{FF2B5EF4-FFF2-40B4-BE49-F238E27FC236}">
                <a16:creationId xmlns:a16="http://schemas.microsoft.com/office/drawing/2014/main" id="{6580573C-C819-4928-8752-298F4C8C8A07}"/>
              </a:ext>
            </a:extLst>
          </p:cNvPr>
          <p:cNvSpPr txBox="1"/>
          <p:nvPr/>
        </p:nvSpPr>
        <p:spPr>
          <a:xfrm>
            <a:off x="4648200" y="3691964"/>
            <a:ext cx="4038600" cy="338554"/>
          </a:xfrm>
          <a:prstGeom prst="rect">
            <a:avLst/>
          </a:prstGeom>
          <a:solidFill>
            <a:srgbClr val="00B050"/>
          </a:solidFill>
        </p:spPr>
        <p:txBody>
          <a:bodyPr wrap="square">
            <a:sp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6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Image of the </a:t>
            </a:r>
            <a:r>
              <a:rPr lang="en-US" sz="1600" dirty="0">
                <a:latin typeface="Times New Roman" pitchFamily="18" charset="0"/>
                <a:cs typeface="Times New Roman" pitchFamily="18" charset="0"/>
              </a:rPr>
              <a:t>completed model</a:t>
            </a:r>
            <a:endParaRPr kumimoji="0" lang="en-US" sz="16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2" name="Picture 1">
            <a:extLst>
              <a:ext uri="{FF2B5EF4-FFF2-40B4-BE49-F238E27FC236}">
                <a16:creationId xmlns:a16="http://schemas.microsoft.com/office/drawing/2014/main" id="{7FE7F246-B6AF-F4AF-24E7-3CF3C795A9CD}"/>
              </a:ext>
            </a:extLst>
          </p:cNvPr>
          <p:cNvPicPr>
            <a:picLocks noChangeAspect="1"/>
          </p:cNvPicPr>
          <p:nvPr/>
        </p:nvPicPr>
        <p:blipFill>
          <a:blip r:embed="rId2"/>
          <a:stretch>
            <a:fillRect/>
          </a:stretch>
        </p:blipFill>
        <p:spPr>
          <a:xfrm>
            <a:off x="3809999" y="1524000"/>
            <a:ext cx="4748769" cy="1934683"/>
          </a:xfrm>
          <a:prstGeom prst="rect">
            <a:avLst/>
          </a:prstGeom>
        </p:spPr>
      </p:pic>
      <p:pic>
        <p:nvPicPr>
          <p:cNvPr id="3" name="Picture 2">
            <a:extLst>
              <a:ext uri="{FF2B5EF4-FFF2-40B4-BE49-F238E27FC236}">
                <a16:creationId xmlns:a16="http://schemas.microsoft.com/office/drawing/2014/main" id="{4A09192C-D190-BAF1-D6AF-F59719A4C6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74081" y="4038600"/>
            <a:ext cx="2306406" cy="2661238"/>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609600"/>
            <a:ext cx="7467600" cy="400110"/>
          </a:xfrm>
          <a:prstGeom prst="rect">
            <a:avLst/>
          </a:prstGeom>
        </p:spPr>
        <p:txBody>
          <a:bodyPr wrap="square">
            <a:spAutoFit/>
          </a:bodyPr>
          <a:lstStyle/>
          <a:p>
            <a:pPr algn="ctr"/>
            <a:r>
              <a:rPr lang="en-US" sz="2000" b="1" dirty="0">
                <a:latin typeface="Times New Roman" pitchFamily="18" charset="0"/>
                <a:cs typeface="Times New Roman" pitchFamily="18" charset="0"/>
              </a:rPr>
              <a:t>MODEL 3 : POWER SUPPLY BOARD</a:t>
            </a:r>
          </a:p>
        </p:txBody>
      </p:sp>
      <p:sp>
        <p:nvSpPr>
          <p:cNvPr id="3" name="Content Placeholder 3"/>
          <p:cNvSpPr txBox="1">
            <a:spLocks/>
          </p:cNvSpPr>
          <p:nvPr/>
        </p:nvSpPr>
        <p:spPr>
          <a:xfrm>
            <a:off x="609600" y="1069869"/>
            <a:ext cx="3962400" cy="5330931"/>
          </a:xfrm>
          <a:prstGeom prst="rect">
            <a:avLst/>
          </a:prstGeom>
        </p:spPr>
        <p:txBody>
          <a:bodyPr>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TOOLS USED:</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Steel rule</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lang="en-US" sz="2000" dirty="0">
                <a:latin typeface="Times New Roman" pitchFamily="18" charset="0"/>
                <a:cs typeface="Times New Roman" pitchFamily="18" charset="0"/>
              </a:rPr>
              <a:t>Outside caliper</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Vernier caliper</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Flat smooth file</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Threading tool</a:t>
            </a:r>
          </a:p>
          <a:p>
            <a:pPr marL="457200" marR="0" lvl="0" indent="-457200" algn="l" defTabSz="914400" rtl="0" eaLnBrk="1" fontAlgn="auto" latinLnBrk="0" hangingPunct="1">
              <a:lnSpc>
                <a:spcPct val="100000"/>
              </a:lnSpc>
              <a:spcBef>
                <a:spcPct val="20000"/>
              </a:spcBef>
              <a:spcAft>
                <a:spcPts val="0"/>
              </a:spcAft>
              <a:buClrTx/>
              <a:buSzTx/>
              <a:buFont typeface="+mj-lt"/>
              <a:buAutoNum type="arabicPeriod"/>
              <a:tabLst/>
              <a:defRPr/>
            </a:pPr>
            <a:r>
              <a:rPr lang="en-US" sz="2000" dirty="0">
                <a:latin typeface="Times New Roman" pitchFamily="18" charset="0"/>
                <a:cs typeface="Times New Roman" pitchFamily="18" charset="0"/>
              </a:rPr>
              <a:t>Parting tool</a:t>
            </a:r>
            <a:endParaRPr kumimoji="0" lang="en-US"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0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MATERIALS REQUIRED:</a:t>
            </a:r>
          </a:p>
          <a:p>
            <a:pPr marR="0" lvl="0" algn="l" defTabSz="9144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Cutting, facing, drilling, knurling, threading, chamfering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2000" dirty="0">
              <a:latin typeface="Times New Roman" pitchFamily="18" charset="0"/>
              <a:cs typeface="Times New Roman" pitchFamily="18" charset="0"/>
            </a:endParaRPr>
          </a:p>
          <a:p>
            <a:pPr marL="342900" indent="-342900">
              <a:spcBef>
                <a:spcPct val="20000"/>
              </a:spcBef>
              <a:buFont typeface="Arial" pitchFamily="34" charset="0"/>
              <a:buChar char="•"/>
              <a:defRPr/>
            </a:pPr>
            <a:r>
              <a:rPr lang="en-US" sz="2000" b="1" dirty="0">
                <a:latin typeface="Times New Roman" pitchFamily="18" charset="0"/>
                <a:cs typeface="Times New Roman" pitchFamily="18" charset="0"/>
              </a:rPr>
              <a:t>SKILLS LEARNED:</a:t>
            </a:r>
            <a:endParaRPr kumimoji="0" lang="en-US" sz="2000" b="1"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342900" indent="-342900">
              <a:spcBef>
                <a:spcPct val="20000"/>
              </a:spcBef>
            </a:pP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we have learnt to measure the metal using caliper and give the threading</a:t>
            </a: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5" name="Content Placeholder 4">
            <a:extLst>
              <a:ext uri="{FF2B5EF4-FFF2-40B4-BE49-F238E27FC236}">
                <a16:creationId xmlns:a16="http://schemas.microsoft.com/office/drawing/2014/main" id="{E0B369B8-D025-44E7-9B89-ED613205D030}"/>
              </a:ext>
            </a:extLst>
          </p:cNvPr>
          <p:cNvSpPr txBox="1">
            <a:spLocks/>
          </p:cNvSpPr>
          <p:nvPr/>
        </p:nvSpPr>
        <p:spPr>
          <a:xfrm>
            <a:off x="4724400" y="1143000"/>
            <a:ext cx="3962400" cy="400110"/>
          </a:xfrm>
          <a:prstGeom prst="rect">
            <a:avLst/>
          </a:prstGeom>
          <a:solidFill>
            <a:srgbClr val="00B050"/>
          </a:solidFill>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6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Image of the Design Diagram</a:t>
            </a:r>
          </a:p>
        </p:txBody>
      </p:sp>
      <p:sp>
        <p:nvSpPr>
          <p:cNvPr id="6" name="TextBox 5">
            <a:extLst>
              <a:ext uri="{FF2B5EF4-FFF2-40B4-BE49-F238E27FC236}">
                <a16:creationId xmlns:a16="http://schemas.microsoft.com/office/drawing/2014/main" id="{A31E8960-2E5E-47B9-9A1C-1430A1AACF75}"/>
              </a:ext>
            </a:extLst>
          </p:cNvPr>
          <p:cNvSpPr txBox="1"/>
          <p:nvPr/>
        </p:nvSpPr>
        <p:spPr>
          <a:xfrm flipV="1">
            <a:off x="5791200" y="3028890"/>
            <a:ext cx="2057400" cy="400110"/>
          </a:xfrm>
          <a:prstGeom prst="rect">
            <a:avLst/>
          </a:prstGeom>
          <a:solidFill>
            <a:srgbClr val="00B050"/>
          </a:solidFill>
        </p:spPr>
        <p:txBody>
          <a:bodyPr wrap="square">
            <a:sp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4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4" name="Picture 3">
            <a:extLst>
              <a:ext uri="{FF2B5EF4-FFF2-40B4-BE49-F238E27FC236}">
                <a16:creationId xmlns:a16="http://schemas.microsoft.com/office/drawing/2014/main" id="{F408E93B-911D-98F7-D8C6-65EB28BEC1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21179" y="1905000"/>
            <a:ext cx="3513221" cy="468429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Rectangle 4"/>
          <p:cNvSpPr/>
          <p:nvPr/>
        </p:nvSpPr>
        <p:spPr>
          <a:xfrm rot="20447235">
            <a:off x="1057244" y="2855141"/>
            <a:ext cx="7231571" cy="1107996"/>
          </a:xfrm>
          <a:prstGeom prst="rect">
            <a:avLst/>
          </a:prstGeom>
          <a:noFill/>
        </p:spPr>
        <p:txBody>
          <a:bodyPr wrap="squar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6600" b="1" cap="all" spc="0" dirty="0">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Thank YOU</a:t>
            </a:r>
            <a:endParaRPr lang="en-US" sz="5400" b="1" cap="all" spc="0" dirty="0">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316</TotalTime>
  <Words>4286</Words>
  <Application>Microsoft Office PowerPoint</Application>
  <PresentationFormat>On-screen Show (4:3)</PresentationFormat>
  <Paragraphs>448</Paragraphs>
  <Slides>50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Times New Roman</vt:lpstr>
      <vt:lpstr>Wingdings</vt:lpstr>
      <vt:lpstr>Office Theme</vt:lpstr>
      <vt:lpstr>PowerPoint Presentation</vt:lpstr>
      <vt:lpstr>PowerPoint Presentation</vt:lpstr>
      <vt:lpstr>LIST OF THEMES: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lpstr>REFERENCE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SAIPAVAN KVRN</cp:lastModifiedBy>
  <cp:revision>28</cp:revision>
  <dcterms:created xsi:type="dcterms:W3CDTF">2006-08-15T13:00:00Z</dcterms:created>
  <dcterms:modified xsi:type="dcterms:W3CDTF">2024-05-29T05:26:35Z</dcterms:modified>
</cp:coreProperties>
</file>