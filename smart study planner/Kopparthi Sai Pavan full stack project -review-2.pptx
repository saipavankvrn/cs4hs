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10287000" cx="18288000"/>
  <p:notesSz cx="6858000" cy="9144000"/>
  <p:embeddedFontLst>
    <p:embeddedFont>
      <p:font typeface="Montserrat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font" Target="fonts/Montserrat-bold.fntdata"/><Relationship Id="rId10" Type="http://schemas.openxmlformats.org/officeDocument/2006/relationships/slide" Target="slides/slide5.xml"/><Relationship Id="rId21" Type="http://schemas.openxmlformats.org/officeDocument/2006/relationships/font" Target="fonts/Montserrat-regular.fntdata"/><Relationship Id="rId13" Type="http://schemas.openxmlformats.org/officeDocument/2006/relationships/slide" Target="slides/slide8.xml"/><Relationship Id="rId24" Type="http://schemas.openxmlformats.org/officeDocument/2006/relationships/font" Target="fonts/Montserrat-boldItalic.fntdata"/><Relationship Id="rId12" Type="http://schemas.openxmlformats.org/officeDocument/2006/relationships/slide" Target="slides/slide7.xml"/><Relationship Id="rId23" Type="http://schemas.openxmlformats.org/officeDocument/2006/relationships/font" Target="fonts/Montserrat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fd64fb57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8fd64fb5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8fd64fb57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d8fd64fb57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d8fd64fb57_0_4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d8fd64fb57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8fd64fb57_0_4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8fd64fb57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0" name="Google Shape;12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9" name="Google Shape;15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4" name="Google Shape;194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8" name="Google Shape;228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5" name="Google Shape;265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3" name="Google Shape;303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2" name="Google Shape;342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1" name="Google Shape;381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d8fd64fb57_0_6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g3d8fd64fb57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5" name="Google Shape;425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4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jpg"/><Relationship Id="rId4" Type="http://schemas.openxmlformats.org/officeDocument/2006/relationships/image" Target="../media/image1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1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E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3"/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85" name="Google Shape;85;p1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noFill/>
            <a:ln cap="sq" cmpd="sng" w="514350">
              <a:solidFill>
                <a:srgbClr val="FD6220">
                  <a:alpha val="11764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" name="Google Shape;87;p13"/>
          <p:cNvGrpSpPr/>
          <p:nvPr/>
        </p:nvGrpSpPr>
        <p:grpSpPr>
          <a:xfrm>
            <a:off x="-9965724" y="-1383136"/>
            <a:ext cx="10994424" cy="10994424"/>
            <a:chOff x="0" y="0"/>
            <a:chExt cx="812800" cy="812800"/>
          </a:xfrm>
        </p:grpSpPr>
        <p:sp>
          <p:nvSpPr>
            <p:cNvPr id="88" name="Google Shape;88;p1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noFill/>
            <a:ln cap="sq" cmpd="sng" w="514350">
              <a:solidFill>
                <a:srgbClr val="FD6220">
                  <a:alpha val="11764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" name="Google Shape;89;p1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10443" y="196689"/>
            <a:ext cx="4752247" cy="1360611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/>
        </p:nvSpPr>
        <p:spPr>
          <a:xfrm>
            <a:off x="1360002" y="1608482"/>
            <a:ext cx="15925800" cy="16312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Vel Tech Rangarajan Dr. Sagunthala R&amp;D Institute of Science and Technology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School of Computing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Department of CSE-Cyber Security</a:t>
            </a:r>
            <a:endParaRPr b="1" i="0" sz="32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692835" y="3272357"/>
            <a:ext cx="1526013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33C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10211CC224 / FULL STACK APPLICATION DEVELOPMENT (JAVA)</a:t>
            </a:r>
            <a:endParaRPr b="1" i="0" sz="2800" u="none" cap="none" strike="noStrike">
              <a:solidFill>
                <a:srgbClr val="0033CC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3727757" y="3897940"/>
            <a:ext cx="11190289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PROJECT REVIEW : MILESTONE PROJECT –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1" i="0" sz="3600" u="none" cap="none" strike="noStrike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Date: 02-04-2026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1501640" y="6057900"/>
            <a:ext cx="15784162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Smart Study Planner</a:t>
            </a:r>
            <a:endParaRPr b="1" i="0" sz="3200" u="none" cap="none" strike="noStrike">
              <a:solidFill>
                <a:srgbClr val="0033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3"/>
          <p:cNvSpPr txBox="1"/>
          <p:nvPr/>
        </p:nvSpPr>
        <p:spPr>
          <a:xfrm>
            <a:off x="893870" y="7800539"/>
            <a:ext cx="9067800" cy="2084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Presented By: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STUDENT NAME: Kopparthi Sai Pavan – VTU25916 – Reg.No.23UESS0036</a:t>
            </a:r>
            <a:endParaRPr b="0" i="0" sz="3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10945035" y="7818586"/>
            <a:ext cx="6914603" cy="1391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Courses Handling Faculty: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Dr. Shahul Hameed C- Assistant Professor</a:t>
            </a:r>
            <a:endParaRPr b="0" i="0" sz="3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2209800" y="6972300"/>
            <a:ext cx="1474317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SDG: SDG No – SDG Title(Example: SDG 4 – Quality Education)</a:t>
            </a:r>
            <a:endParaRPr b="1" i="0" sz="2000" u="none" cap="none" strike="noStrike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replace content &quot;&#10;&#10;• Background:&#10; Modern education has shifted heavily toward digital resources, leaving students overwhelmed  with numerous PDFs, PPTs, and web links across various subjects&#10;• Problem Context:&#10; Manually managing these files and tracking study tasks across different platforms often leads to  academic disorganization and missed deadlines&#10;• Importance:&#10; This project is crucial for creating a structured learning environment that integrates resource  management with active study tools.&#10;• Real-world Relevance:&#10;  As digital learning becomes the standard, students need specialized tools—rather than general  storage—to streamline their exam preparation and daily productivity&#10;• System Overview:&#10;  The smart student study planner is a full-stack Java application that centralizes document  storage, subject organization, and interactive revision boards in one secure platform&quot; with &quot;Background: The shift to digital education leaves students overwhelmed with scattered resources (PDFs, PPTs, web links) across multiple subjects.&#10;The Problem: Manual file tracking across different platforms causes academic disorganization, reduced productivity, and missed deadlines.&#10;The Need: Students require specialized tools—not just general cloud storage—to actively streamline exam preparation and daily tasks.&#10;Our Solution: The Smart Study Planner—a full-stack Java application centralizing secure document storage, subject organization, and interactive revision tools in one structured platform.&quot;" id="102" name="Google Shape;10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" y="129875"/>
            <a:ext cx="18430875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replace &quot;Students currently rely on generic cloud storage or manual folder systems to manage diverse academic resources like PDFs and PPT&#10;&#10;This manual approach leads to significant inefficiency in retrieving specific documents during exam preparation.&#10;&#10;The existing tools lack a centralized way to link study materials directly to a specific subject-wise schedule.&#10;&#10;There is no integrated platform that combines document storage with active study aids like revision cards and task reminders.&#10;&#10;As a result , students often miss deadlines or struggle with disorganized study environments.&#10;&#10;There is a clear need for a simple, automated, and secure system that streamlines study resources and improves academic focus.&#10;&#10;&#10;&#10;&quot; with &quot;Fragmented Tools: Reliance on generic cloud storage or manual folders causes significant delays in finding specific documents during exam prep.&#10;Lack of Context: Existing tools fail to link study materials directly to subject-wise schedules or tasks.&#10;Missing Integration: There is no single platform that combines simple document storage with active study aids (like revision cards and reminders).&#10;The Impact: Students suffer from disorganized study environments, leading to decreased productivity and missed deadlines.&#10;The Clear Need: A simple, secure, and automated system designed specifically to streamline resources and maximize academic focus.&quot;" id="107" name="Google Shape;10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1438" y="0"/>
            <a:ext cx="18430875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replace • To design and develop a full-stack Spring Boot application that centralizes student study resources through a subject-linked document management system.&#10;&#10;&#10;• To implement an interactive Study Board with visual revision cards and automated task reminders to improve academic productivity and exam preparation&#10;&#10;&quot; with &quot;Centralized Resource Management: Design and develop a full-stack Spring Boot application that organizes and centralizes study materials through a subject-linked document system.&#10;Interactive Study Tools: Implement a dynamic Study Board featuring visual revision cards and automated task reminders to boost academic productivity and streamline exam prep.&quot;" id="112" name="Google Shape;11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1438" y="0"/>
            <a:ext cx="18430875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replace &quot;• Comprehensive Study Hub:&#10;•  A centralized platform built with Spring Boot and MySQL that integrates subject management, document storage, and task tracking.&#10;• Intelligent File Categorization: Automated system that links uploaded PDFs and PPTs directly to specific subjects for effortless retrieval&#10;• Interactive Study Boards: A dedicated module for exam revision featuring visual &quot;Revision Cards&quot; that support both text and images&#10;• Smart UI Components: Implementation of Modal Overlays allows users to view and edit revision content without navigating away from the main dashboard&#10;• Direct Browser Viewing: Eliminates local storage clutter by allowing users to view study materials directly within the browser tab&#10;• Integrate productivity and growth:Includes  a to-do-list with automated reminders to help students manage deadlines and academic schedules.&#10;• Live Activity Tracking: A real-time dashboard feed that logs recent user actions, ensuring a seamless &quot;pick-up-where-you-left-off&quot; experience&#10;• Robust Security: Features secure Spring Security authentication and a dedicated profile management system for personal data protection&#10;&quot; with &quot;Comprehensive Hub: Centralizes subjects, documents, and tasks using Spring Boot &amp; MySQL.&#10;Intelligent Categorization: Automatically links uploaded PDFs &amp; PPTs to specific subjects for instant retrieval.&#10;Interactive Study Boards: Features visual &quot;Revision Cards&quot; (supporting text &amp; images) for active exam prep.&#10;Integrated Productivity: Built-in to-do lists and automated reminders to effectively manage deadlines.&#10;Seamless Experience: In-browser document viewing and modal overlays for quick editing without leaving the dashboard.&#10;Live Activity Tracking: Real-time action feed providing a smooth &quot;pick-up-where-you-left-off&quot; experience.&#10;Robust Security: Spring Security authentication and protected profile management for strict data privacy.&quot;&#10;&#10;&#10;" id="117" name="Google Shape;117;p17"/>
          <p:cNvPicPr preferRelativeResize="0"/>
          <p:nvPr/>
        </p:nvPicPr>
        <p:blipFill rotWithShape="1">
          <a:blip r:embed="rId3">
            <a:alphaModFix/>
          </a:blip>
          <a:srcRect b="0" l="0" r="23012" t="0"/>
          <a:stretch/>
        </p:blipFill>
        <p:spPr>
          <a:xfrm>
            <a:off x="-71450" y="0"/>
            <a:ext cx="14190100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E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oogle Shape;122;p18"/>
          <p:cNvGrpSpPr/>
          <p:nvPr/>
        </p:nvGrpSpPr>
        <p:grpSpPr>
          <a:xfrm>
            <a:off x="709357" y="4655766"/>
            <a:ext cx="992463" cy="992463"/>
            <a:chOff x="0" y="0"/>
            <a:chExt cx="812800" cy="812800"/>
          </a:xfrm>
        </p:grpSpPr>
        <p:sp>
          <p:nvSpPr>
            <p:cNvPr id="123" name="Google Shape;123;p18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18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1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99"/>
                <a:buFont typeface="Arial"/>
                <a:buNone/>
              </a:pPr>
              <a:r>
                <a:rPr b="0" i="0" lang="en-US" sz="2699" u="none" cap="none" strike="noStrike">
                  <a:solidFill>
                    <a:srgbClr val="FFFEFE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5" name="Google Shape;125;p18"/>
          <p:cNvGrpSpPr/>
          <p:nvPr/>
        </p:nvGrpSpPr>
        <p:grpSpPr>
          <a:xfrm>
            <a:off x="951509" y="3320505"/>
            <a:ext cx="508158" cy="543805"/>
            <a:chOff x="0" y="0"/>
            <a:chExt cx="812800" cy="869819"/>
          </a:xfrm>
        </p:grpSpPr>
        <p:sp>
          <p:nvSpPr>
            <p:cNvPr id="126" name="Google Shape;126;p18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8" name="Google Shape;128;p18"/>
          <p:cNvGrpSpPr/>
          <p:nvPr/>
        </p:nvGrpSpPr>
        <p:grpSpPr>
          <a:xfrm>
            <a:off x="951509" y="1987111"/>
            <a:ext cx="508158" cy="543805"/>
            <a:chOff x="0" y="0"/>
            <a:chExt cx="812800" cy="869819"/>
          </a:xfrm>
        </p:grpSpPr>
        <p:sp>
          <p:nvSpPr>
            <p:cNvPr id="129" name="Google Shape;129;p18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1" name="Google Shape;131;p18"/>
          <p:cNvGrpSpPr/>
          <p:nvPr/>
        </p:nvGrpSpPr>
        <p:grpSpPr>
          <a:xfrm>
            <a:off x="951509" y="3988135"/>
            <a:ext cx="508158" cy="543805"/>
            <a:chOff x="0" y="0"/>
            <a:chExt cx="812800" cy="869819"/>
          </a:xfrm>
        </p:grpSpPr>
        <p:sp>
          <p:nvSpPr>
            <p:cNvPr id="132" name="Google Shape;132;p18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4" name="Google Shape;134;p18"/>
          <p:cNvGrpSpPr/>
          <p:nvPr/>
        </p:nvGrpSpPr>
        <p:grpSpPr>
          <a:xfrm>
            <a:off x="951509" y="2652874"/>
            <a:ext cx="508158" cy="543805"/>
            <a:chOff x="0" y="0"/>
            <a:chExt cx="812800" cy="869819"/>
          </a:xfrm>
        </p:grpSpPr>
        <p:sp>
          <p:nvSpPr>
            <p:cNvPr id="135" name="Google Shape;135;p18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7" name="Google Shape;137;p18"/>
          <p:cNvGrpSpPr/>
          <p:nvPr/>
        </p:nvGrpSpPr>
        <p:grpSpPr>
          <a:xfrm>
            <a:off x="951509" y="6430348"/>
            <a:ext cx="508158" cy="543805"/>
            <a:chOff x="0" y="0"/>
            <a:chExt cx="812800" cy="869819"/>
          </a:xfrm>
        </p:grpSpPr>
        <p:sp>
          <p:nvSpPr>
            <p:cNvPr id="138" name="Google Shape;138;p18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0" name="Google Shape;140;p18"/>
          <p:cNvGrpSpPr/>
          <p:nvPr/>
        </p:nvGrpSpPr>
        <p:grpSpPr>
          <a:xfrm>
            <a:off x="951509" y="5764584"/>
            <a:ext cx="508158" cy="543805"/>
            <a:chOff x="0" y="0"/>
            <a:chExt cx="812800" cy="869819"/>
          </a:xfrm>
        </p:grpSpPr>
        <p:sp>
          <p:nvSpPr>
            <p:cNvPr id="141" name="Google Shape;141;p18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3" name="Google Shape;143;p18"/>
          <p:cNvGrpSpPr/>
          <p:nvPr/>
        </p:nvGrpSpPr>
        <p:grpSpPr>
          <a:xfrm>
            <a:off x="951509" y="7088453"/>
            <a:ext cx="508158" cy="543805"/>
            <a:chOff x="0" y="0"/>
            <a:chExt cx="812800" cy="869819"/>
          </a:xfrm>
        </p:grpSpPr>
        <p:sp>
          <p:nvSpPr>
            <p:cNvPr id="144" name="Google Shape;144;p18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6" name="Google Shape;146;p18"/>
          <p:cNvGrpSpPr/>
          <p:nvPr/>
        </p:nvGrpSpPr>
        <p:grpSpPr>
          <a:xfrm>
            <a:off x="951509" y="7756083"/>
            <a:ext cx="508158" cy="543805"/>
            <a:chOff x="0" y="0"/>
            <a:chExt cx="812800" cy="869819"/>
          </a:xfrm>
        </p:grpSpPr>
        <p:sp>
          <p:nvSpPr>
            <p:cNvPr id="147" name="Google Shape;147;p18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9" name="Google Shape;149;p18"/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150" name="Google Shape;150;p18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noFill/>
            <a:ln cap="sq" cmpd="sng" w="514350">
              <a:solidFill>
                <a:srgbClr val="FD6220">
                  <a:alpha val="11764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18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18"/>
          <p:cNvSpPr/>
          <p:nvPr/>
        </p:nvSpPr>
        <p:spPr>
          <a:xfrm>
            <a:off x="16313420" y="910465"/>
            <a:ext cx="945880" cy="236470"/>
          </a:xfrm>
          <a:custGeom>
            <a:rect b="b" l="l" r="r" t="t"/>
            <a:pathLst>
              <a:path extrusionOk="0" h="236470" w="94588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3" name="Google Shape;153;p18"/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PROPOSED SYSTEM ARCHITECTURE</a:t>
            </a:r>
            <a:endParaRPr b="1" i="0" sz="4800" u="none" cap="none" strike="noStrike">
              <a:solidFill>
                <a:srgbClr val="0033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p18"/>
          <p:cNvSpPr txBox="1"/>
          <p:nvPr/>
        </p:nvSpPr>
        <p:spPr>
          <a:xfrm>
            <a:off x="2209800" y="1638300"/>
            <a:ext cx="150822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based on the ppt genrate a proposed system architecture" id="155" name="Google Shape;155;p18"/>
          <p:cNvPicPr preferRelativeResize="0"/>
          <p:nvPr/>
        </p:nvPicPr>
        <p:blipFill rotWithShape="1">
          <a:blip r:embed="rId3">
            <a:alphaModFix/>
          </a:blip>
          <a:srcRect b="0" l="0" r="0" t="12549"/>
          <a:stretch/>
        </p:blipFill>
        <p:spPr>
          <a:xfrm>
            <a:off x="2362400" y="1987091"/>
            <a:ext cx="15367278" cy="7500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8" title="Gemini_Generated_Image_3a7gyi3a7gyi3a7g.png"/>
          <p:cNvPicPr preferRelativeResize="0"/>
          <p:nvPr/>
        </p:nvPicPr>
        <p:blipFill rotWithShape="1">
          <a:blip r:embed="rId4">
            <a:alphaModFix/>
          </a:blip>
          <a:srcRect b="1638" l="-2659" r="0" t="-18638"/>
          <a:stretch/>
        </p:blipFill>
        <p:spPr>
          <a:xfrm>
            <a:off x="1701825" y="1904750"/>
            <a:ext cx="15082199" cy="8112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E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Google Shape;161;p19"/>
          <p:cNvGrpSpPr/>
          <p:nvPr/>
        </p:nvGrpSpPr>
        <p:grpSpPr>
          <a:xfrm>
            <a:off x="735588" y="5318634"/>
            <a:ext cx="992463" cy="992463"/>
            <a:chOff x="0" y="0"/>
            <a:chExt cx="812800" cy="812800"/>
          </a:xfrm>
        </p:grpSpPr>
        <p:sp>
          <p:nvSpPr>
            <p:cNvPr id="162" name="Google Shape;162;p19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1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1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99"/>
                <a:buFont typeface="Arial"/>
                <a:buNone/>
              </a:pPr>
              <a:r>
                <a:rPr b="0" i="0" lang="en-US" sz="2699" u="none" cap="none" strike="noStrike">
                  <a:solidFill>
                    <a:srgbClr val="FFFEFE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4" name="Google Shape;164;p19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65" name="Google Shape;165;p19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7" name="Google Shape;167;p19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68" name="Google Shape;168;p19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0" name="Google Shape;170;p19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1" name="Google Shape;171;p19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3" name="Google Shape;173;p19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174" name="Google Shape;174;p19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6" name="Google Shape;176;p19"/>
          <p:cNvGrpSpPr/>
          <p:nvPr/>
        </p:nvGrpSpPr>
        <p:grpSpPr>
          <a:xfrm>
            <a:off x="977741" y="6425585"/>
            <a:ext cx="508158" cy="543805"/>
            <a:chOff x="0" y="0"/>
            <a:chExt cx="812800" cy="869819"/>
          </a:xfrm>
        </p:grpSpPr>
        <p:sp>
          <p:nvSpPr>
            <p:cNvPr id="177" name="Google Shape;177;p19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9" name="Google Shape;179;p19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180" name="Google Shape;180;p19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2" name="Google Shape;182;p19"/>
          <p:cNvGrpSpPr/>
          <p:nvPr/>
        </p:nvGrpSpPr>
        <p:grpSpPr>
          <a:xfrm>
            <a:off x="977741" y="7093216"/>
            <a:ext cx="508158" cy="543805"/>
            <a:chOff x="0" y="0"/>
            <a:chExt cx="812800" cy="869819"/>
          </a:xfrm>
        </p:grpSpPr>
        <p:sp>
          <p:nvSpPr>
            <p:cNvPr id="183" name="Google Shape;183;p19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5" name="Google Shape;185;p19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186" name="Google Shape;186;p19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8" name="Google Shape;188;p19"/>
          <p:cNvSpPr/>
          <p:nvPr/>
        </p:nvSpPr>
        <p:spPr>
          <a:xfrm>
            <a:off x="16313420" y="910465"/>
            <a:ext cx="945880" cy="236470"/>
          </a:xfrm>
          <a:custGeom>
            <a:rect b="b" l="l" r="r" t="t"/>
            <a:pathLst>
              <a:path extrusionOk="0" h="236470" w="94588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9" name="Google Shape;189;p19"/>
          <p:cNvSpPr txBox="1"/>
          <p:nvPr/>
        </p:nvSpPr>
        <p:spPr>
          <a:xfrm>
            <a:off x="190500" y="315938"/>
            <a:ext cx="179070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WORKFLOW</a:t>
            </a:r>
            <a:endParaRPr b="1" i="0" sz="4800" u="none" cap="none" strike="noStrike">
              <a:solidFill>
                <a:srgbClr val="0033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0" name="Google Shape;190;p19"/>
          <p:cNvSpPr txBox="1"/>
          <p:nvPr/>
        </p:nvSpPr>
        <p:spPr>
          <a:xfrm>
            <a:off x="2209800" y="1638300"/>
            <a:ext cx="15082200" cy="44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p19"/>
          <p:cNvPicPr preferRelativeResize="0"/>
          <p:nvPr/>
        </p:nvPicPr>
        <p:blipFill rotWithShape="1">
          <a:blip r:embed="rId3">
            <a:alphaModFix/>
          </a:blip>
          <a:srcRect b="22096" l="0" r="0" t="22091"/>
          <a:stretch/>
        </p:blipFill>
        <p:spPr>
          <a:xfrm>
            <a:off x="2615649" y="1638300"/>
            <a:ext cx="13932876" cy="777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E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6" name="Google Shape;196;p20"/>
          <p:cNvGrpSpPr/>
          <p:nvPr/>
        </p:nvGrpSpPr>
        <p:grpSpPr>
          <a:xfrm>
            <a:off x="735588" y="5976927"/>
            <a:ext cx="992463" cy="992463"/>
            <a:chOff x="0" y="0"/>
            <a:chExt cx="812800" cy="812800"/>
          </a:xfrm>
        </p:grpSpPr>
        <p:sp>
          <p:nvSpPr>
            <p:cNvPr id="197" name="Google Shape;197;p20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20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1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99"/>
                <a:buFont typeface="Arial"/>
                <a:buNone/>
              </a:pPr>
              <a:r>
                <a:rPr b="0" i="0" lang="en-US" sz="2699" u="none" cap="none" strike="noStrike">
                  <a:solidFill>
                    <a:srgbClr val="FFFEFE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" name="Google Shape;199;p20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200" name="Google Shape;200;p20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2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2" name="Google Shape;202;p20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203" name="Google Shape;203;p20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" name="Google Shape;204;p2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" name="Google Shape;205;p20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206" name="Google Shape;206;p20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2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8" name="Google Shape;208;p20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9" name="Google Shape;209;p20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2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1" name="Google Shape;211;p20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12" name="Google Shape;212;p20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2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4" name="Google Shape;214;p20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15" name="Google Shape;215;p20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2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7" name="Google Shape;217;p20"/>
          <p:cNvGrpSpPr/>
          <p:nvPr/>
        </p:nvGrpSpPr>
        <p:grpSpPr>
          <a:xfrm>
            <a:off x="977741" y="7093216"/>
            <a:ext cx="508158" cy="543805"/>
            <a:chOff x="0" y="0"/>
            <a:chExt cx="812800" cy="869819"/>
          </a:xfrm>
        </p:grpSpPr>
        <p:sp>
          <p:nvSpPr>
            <p:cNvPr id="218" name="Google Shape;218;p20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2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0" name="Google Shape;220;p20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221" name="Google Shape;221;p20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2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3" name="Google Shape;223;p20"/>
          <p:cNvSpPr/>
          <p:nvPr/>
        </p:nvSpPr>
        <p:spPr>
          <a:xfrm>
            <a:off x="16313420" y="910465"/>
            <a:ext cx="945880" cy="236470"/>
          </a:xfrm>
          <a:custGeom>
            <a:rect b="b" l="l" r="r" t="t"/>
            <a:pathLst>
              <a:path extrusionOk="0" h="236470" w="94588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4" name="Google Shape;224;p20"/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TECHNOLOGIES USED</a:t>
            </a:r>
            <a:endParaRPr b="1" i="0" sz="4800" u="none" cap="none" strike="noStrike">
              <a:solidFill>
                <a:srgbClr val="0033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5" name="Google Shape;225;p20"/>
          <p:cNvSpPr txBox="1"/>
          <p:nvPr/>
        </p:nvSpPr>
        <p:spPr>
          <a:xfrm>
            <a:off x="2209800" y="1638300"/>
            <a:ext cx="15082200" cy="741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1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Frontend: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HTML, CSS, Postman </a:t>
            </a:r>
            <a:endParaRPr b="0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1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Backend: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Spring Boot, Java (JDK 17+), Spring Web (REST API).</a:t>
            </a:r>
            <a:endParaRPr b="0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1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Database: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MySQL</a:t>
            </a:r>
            <a:endParaRPr b="0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0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Tools:</a:t>
            </a: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Postman, IntelliJ IDEA / Eclipse, Maven (build tool).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1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Hardware: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Minimum 4GB RAM,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Laptop/Desktop System.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1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Software Requirements: 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Java JDK 17+,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Spring Boot,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MySQL,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IntelliJ / Eclipse IDE,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-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Postman</a:t>
            </a:r>
            <a:endParaRPr b="0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E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0" name="Google Shape;230;p21"/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231" name="Google Shape;231;p21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21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14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699"/>
                <a:buFont typeface="Arial"/>
                <a:buNone/>
              </a:pPr>
              <a:r>
                <a:rPr b="0" i="0" lang="en-US" sz="2699" u="none" cap="none" strike="noStrike">
                  <a:solidFill>
                    <a:srgbClr val="FFFEFE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3" name="Google Shape;233;p21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234" name="Google Shape;234;p21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6" name="Google Shape;236;p21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237" name="Google Shape;237;p21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9" name="Google Shape;239;p21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240" name="Google Shape;240;p21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2" name="Google Shape;242;p21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43" name="Google Shape;243;p21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5" name="Google Shape;245;p21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46" name="Google Shape;246;p21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8" name="Google Shape;248;p21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49" name="Google Shape;249;p21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1" name="Google Shape;251;p21"/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52" name="Google Shape;252;p21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4" name="Google Shape;254;p21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255" name="Google Shape;255;p21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57" name="Google Shape;257;p21"/>
          <p:cNvSpPr/>
          <p:nvPr/>
        </p:nvSpPr>
        <p:spPr>
          <a:xfrm>
            <a:off x="16313420" y="1028700"/>
            <a:ext cx="945880" cy="236470"/>
          </a:xfrm>
          <a:custGeom>
            <a:rect b="b" l="l" r="r" t="t"/>
            <a:pathLst>
              <a:path extrusionOk="0" h="236470" w="94588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sp>
      <p:grpSp>
        <p:nvGrpSpPr>
          <p:cNvPr id="258" name="Google Shape;258;p21"/>
          <p:cNvGrpSpPr/>
          <p:nvPr/>
        </p:nvGrpSpPr>
        <p:grpSpPr>
          <a:xfrm>
            <a:off x="17170670" y="-193569"/>
            <a:ext cx="10994424" cy="10994424"/>
            <a:chOff x="0" y="0"/>
            <a:chExt cx="812800" cy="812800"/>
          </a:xfrm>
        </p:grpSpPr>
        <p:sp>
          <p:nvSpPr>
            <p:cNvPr id="259" name="Google Shape;259;p21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noFill/>
            <a:ln cap="sq" cmpd="sng" w="514350">
              <a:solidFill>
                <a:srgbClr val="FD6220">
                  <a:alpha val="11764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21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1" name="Google Shape;261;p21"/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MODULE DESCRIPTION</a:t>
            </a:r>
            <a:endParaRPr b="1" i="0" sz="4800" u="none" cap="none" strike="noStrike">
              <a:solidFill>
                <a:srgbClr val="0033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62" name="Google Shape;262;p21"/>
          <p:cNvSpPr txBox="1"/>
          <p:nvPr/>
        </p:nvSpPr>
        <p:spPr>
          <a:xfrm>
            <a:off x="2088475" y="1265175"/>
            <a:ext cx="15082200" cy="95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1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1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Module 1: </a:t>
            </a:r>
            <a:r>
              <a:rPr b="1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User Authentication &amp; Security</a:t>
            </a:r>
            <a:endParaRPr b="1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Manages secure user registration and login using Spring security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Provides profile management, including data updates and password encryption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1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Module 2: </a:t>
            </a:r>
            <a:r>
              <a:rPr b="1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Content &amp; Resource Management</a:t>
            </a:r>
            <a:endParaRPr b="1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Handles the core logic for adding, editing, and deleting Subjects</a:t>
            </a:r>
            <a:endParaRPr/>
          </a:p>
          <a:p>
            <a:pPr indent="-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Facilitates the Smart Upload of PDFs and PPTs, linking files directly to their respective subject categories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Module 3: </a:t>
            </a: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Interactive Revision Board</a:t>
            </a: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Implements the Revision Card system, allowing users to create study aids with text and images.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Includes the Modal Overlay feature for quick content viewing and live editing without page reloads.</a:t>
            </a:r>
            <a:endParaRPr b="0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Module 4: </a:t>
            </a: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Productivity &amp; Activity Tracker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Manages the To-Do List and automated reminders for academic tasks.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Generates the Recent Activity Feed on the Dashboard to provide a chronological log of user progress</a:t>
            </a:r>
            <a:endParaRPr b="0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Module 5: </a:t>
            </a:r>
            <a:r>
              <a:rPr b="1" lang="en-US" sz="2800">
                <a:solidFill>
                  <a:schemeClr val="dk1"/>
                </a:solidFill>
              </a:rPr>
              <a:t>AI powers asssist</a:t>
            </a:r>
            <a:endParaRPr sz="1100">
              <a:solidFill>
                <a:schemeClr val="dk1"/>
              </a:solidFill>
            </a:endParaRPr>
          </a:p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•"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Integrates the mistral api to provide intelligent aware study assitance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E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7" name="Google Shape;267;p22"/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268" name="Google Shape;268;p2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2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5745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-US" sz="2400" u="none" cap="none" strike="noStrike">
                  <a:solidFill>
                    <a:srgbClr val="002060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0" name="Google Shape;270;p22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271" name="Google Shape;271;p22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3" name="Google Shape;273;p22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274" name="Google Shape;274;p22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6" name="Google Shape;276;p22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277" name="Google Shape;277;p22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9" name="Google Shape;279;p22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80" name="Google Shape;280;p22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" name="Google Shape;281;p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2" name="Google Shape;282;p22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83" name="Google Shape;283;p22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" name="Google Shape;284;p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5" name="Google Shape;285;p22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86" name="Google Shape;286;p22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" name="Google Shape;287;p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8" name="Google Shape;288;p22"/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89" name="Google Shape;289;p22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1" name="Google Shape;291;p22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292" name="Google Shape;292;p22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" name="Google Shape;293;p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94" name="Google Shape;294;p22"/>
          <p:cNvSpPr/>
          <p:nvPr/>
        </p:nvSpPr>
        <p:spPr>
          <a:xfrm>
            <a:off x="16313420" y="1028700"/>
            <a:ext cx="945880" cy="236470"/>
          </a:xfrm>
          <a:custGeom>
            <a:rect b="b" l="l" r="r" t="t"/>
            <a:pathLst>
              <a:path extrusionOk="0" h="236470" w="94588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sp>
      <p:grpSp>
        <p:nvGrpSpPr>
          <p:cNvPr id="295" name="Google Shape;295;p22"/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296" name="Google Shape;296;p2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noFill/>
            <a:ln cap="sq" cmpd="sng" w="514350">
              <a:solidFill>
                <a:srgbClr val="FD6220">
                  <a:alpha val="11764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p2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8" name="Google Shape;298;p22"/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IMPLEMENTATION SCREENSHOTS</a:t>
            </a:r>
            <a:endParaRPr b="1" i="0" sz="4800" u="none" cap="none" strike="noStrike">
              <a:solidFill>
                <a:srgbClr val="0033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99" name="Google Shape;299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10499" y="1435194"/>
            <a:ext cx="8448566" cy="35865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99850" y="5283000"/>
            <a:ext cx="8659226" cy="43273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E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5" name="Google Shape;305;p23"/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306" name="Google Shape;306;p2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" name="Google Shape;307;p2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5745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-US" sz="2400" u="none" cap="none" strike="noStrike">
                  <a:solidFill>
                    <a:srgbClr val="002060"/>
                  </a:solidFill>
                  <a:latin typeface="Arial"/>
                  <a:ea typeface="Arial"/>
                  <a:cs typeface="Arial"/>
                  <a:sym typeface="Arial"/>
                </a:rPr>
                <a:t>8(A)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8" name="Google Shape;308;p23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309" name="Google Shape;309;p23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" name="Google Shape;310;p2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1" name="Google Shape;311;p23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312" name="Google Shape;312;p23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" name="Google Shape;313;p2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4" name="Google Shape;314;p23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315" name="Google Shape;315;p23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" name="Google Shape;316;p2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7" name="Google Shape;317;p23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318" name="Google Shape;318;p23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" name="Google Shape;319;p2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0" name="Google Shape;320;p23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321" name="Google Shape;321;p23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" name="Google Shape;322;p2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3" name="Google Shape;323;p23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324" name="Google Shape;324;p23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" name="Google Shape;325;p2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6" name="Google Shape;326;p23"/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327" name="Google Shape;327;p23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" name="Google Shape;328;p2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23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30" name="Google Shape;330;p23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p2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32" name="Google Shape;332;p23"/>
          <p:cNvSpPr/>
          <p:nvPr/>
        </p:nvSpPr>
        <p:spPr>
          <a:xfrm>
            <a:off x="16313420" y="1028700"/>
            <a:ext cx="945880" cy="236470"/>
          </a:xfrm>
          <a:custGeom>
            <a:rect b="b" l="l" r="r" t="t"/>
            <a:pathLst>
              <a:path extrusionOk="0" h="236470" w="94588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sp>
      <p:grpSp>
        <p:nvGrpSpPr>
          <p:cNvPr id="333" name="Google Shape;333;p23"/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34" name="Google Shape;334;p2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noFill/>
            <a:ln cap="sq" cmpd="sng" w="514350">
              <a:solidFill>
                <a:srgbClr val="FD6220">
                  <a:alpha val="11764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2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6" name="Google Shape;336;p23"/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IMPLEMENTATION SCREENSHOTS</a:t>
            </a:r>
            <a:endParaRPr b="1" i="0" sz="4800" u="none" cap="none" strike="noStrike">
              <a:solidFill>
                <a:srgbClr val="0033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37" name="Google Shape;3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9656" y="1904956"/>
            <a:ext cx="7240152" cy="34635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23" title="Screenshot 2026-04-24 030948.png"/>
          <p:cNvPicPr preferRelativeResize="0"/>
          <p:nvPr/>
        </p:nvPicPr>
        <p:blipFill rotWithShape="1">
          <a:blip r:embed="rId4">
            <a:alphaModFix/>
          </a:blip>
          <a:srcRect b="2768" l="0" r="0" t="2768"/>
          <a:stretch/>
        </p:blipFill>
        <p:spPr>
          <a:xfrm>
            <a:off x="2254356" y="6300999"/>
            <a:ext cx="7245083" cy="34635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29650" y="1569675"/>
            <a:ext cx="8380302" cy="403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E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4" name="Google Shape;344;p24"/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345" name="Google Shape;345;p2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2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5745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-US" sz="2400" u="none" cap="none" strike="noStrike">
                  <a:solidFill>
                    <a:srgbClr val="002060"/>
                  </a:solidFill>
                  <a:latin typeface="Arial"/>
                  <a:ea typeface="Arial"/>
                  <a:cs typeface="Arial"/>
                  <a:sym typeface="Arial"/>
                </a:rPr>
                <a:t>8(B)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47" name="Google Shape;347;p24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348" name="Google Shape;348;p24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0" name="Google Shape;350;p24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351" name="Google Shape;351;p24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24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354" name="Google Shape;354;p24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6" name="Google Shape;356;p24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357" name="Google Shape;357;p24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9" name="Google Shape;359;p24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360" name="Google Shape;360;p24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62" name="Google Shape;362;p24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363" name="Google Shape;363;p24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65" name="Google Shape;365;p24"/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366" name="Google Shape;366;p24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68" name="Google Shape;368;p24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69" name="Google Shape;369;p24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1" name="Google Shape;371;p24"/>
          <p:cNvSpPr/>
          <p:nvPr/>
        </p:nvSpPr>
        <p:spPr>
          <a:xfrm>
            <a:off x="16313420" y="1028700"/>
            <a:ext cx="945880" cy="236470"/>
          </a:xfrm>
          <a:custGeom>
            <a:rect b="b" l="l" r="r" t="t"/>
            <a:pathLst>
              <a:path extrusionOk="0" h="236470" w="94588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sp>
      <p:grpSp>
        <p:nvGrpSpPr>
          <p:cNvPr id="372" name="Google Shape;372;p24"/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73" name="Google Shape;373;p2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noFill/>
            <a:ln cap="sq" cmpd="sng" w="514350">
              <a:solidFill>
                <a:srgbClr val="FD6220">
                  <a:alpha val="11764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24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5" name="Google Shape;375;p24"/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IMPLEMENTATION SCREENSHOTS</a:t>
            </a:r>
            <a:endParaRPr b="1" i="0" sz="4800" u="none" cap="none" strike="noStrike">
              <a:solidFill>
                <a:srgbClr val="0033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6" name="Google Shape;376;p24"/>
          <p:cNvSpPr txBox="1"/>
          <p:nvPr/>
        </p:nvSpPr>
        <p:spPr>
          <a:xfrm>
            <a:off x="2209800" y="1638300"/>
            <a:ext cx="15082325" cy="48320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7" name="Google Shape;377;p24" title="Screenshot 2026-04-24 031034.png"/>
          <p:cNvPicPr preferRelativeResize="0"/>
          <p:nvPr/>
        </p:nvPicPr>
        <p:blipFill rotWithShape="1">
          <a:blip r:embed="rId3">
            <a:alphaModFix/>
          </a:blip>
          <a:srcRect b="1000" l="0" r="0" t="990"/>
          <a:stretch/>
        </p:blipFill>
        <p:spPr>
          <a:xfrm>
            <a:off x="1870048" y="1735594"/>
            <a:ext cx="7154030" cy="345223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75691" y="5516829"/>
            <a:ext cx="7620338" cy="37021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E"/>
        </a:solidFill>
      </p:bgPr>
    </p:bg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3" name="Google Shape;383;p25"/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384" name="Google Shape;384;p25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2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5745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-US" sz="2400" u="none" cap="none" strike="noStrike">
                  <a:solidFill>
                    <a:srgbClr val="002060"/>
                  </a:solidFill>
                  <a:latin typeface="Arial"/>
                  <a:ea typeface="Arial"/>
                  <a:cs typeface="Arial"/>
                  <a:sym typeface="Arial"/>
                </a:rPr>
                <a:t>8(C)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86" name="Google Shape;386;p25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387" name="Google Shape;387;p25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89" name="Google Shape;389;p25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390" name="Google Shape;390;p25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2" name="Google Shape;392;p25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393" name="Google Shape;393;p25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5" name="Google Shape;395;p25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396" name="Google Shape;396;p25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8" name="Google Shape;398;p25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399" name="Google Shape;399;p25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" name="Google Shape;400;p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1" name="Google Shape;401;p25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402" name="Google Shape;402;p25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" name="Google Shape;403;p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4" name="Google Shape;404;p25"/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405" name="Google Shape;405;p25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" name="Google Shape;406;p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7" name="Google Shape;407;p25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408" name="Google Shape;408;p25"/>
            <p:cNvSpPr/>
            <p:nvPr/>
          </p:nvSpPr>
          <p:spPr>
            <a:xfrm>
              <a:off x="0" y="0"/>
              <a:ext cx="812800" cy="869819"/>
            </a:xfrm>
            <a:custGeom>
              <a:rect b="b" l="l" r="r" t="t"/>
              <a:pathLst>
                <a:path extrusionOk="0" h="869819" w="812800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cap="sq" cmpd="sng" w="9525">
              <a:solidFill>
                <a:srgbClr val="FD622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" name="Google Shape;409;p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b="0" i="0" lang="en-US" sz="1700" u="none" cap="none" strike="noStrike">
                  <a:solidFill>
                    <a:srgbClr val="19191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10" name="Google Shape;410;p25"/>
          <p:cNvSpPr/>
          <p:nvPr/>
        </p:nvSpPr>
        <p:spPr>
          <a:xfrm>
            <a:off x="16313420" y="1028700"/>
            <a:ext cx="945880" cy="236470"/>
          </a:xfrm>
          <a:custGeom>
            <a:rect b="b" l="l" r="r" t="t"/>
            <a:pathLst>
              <a:path extrusionOk="0" h="236470" w="94588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sp>
      <p:grpSp>
        <p:nvGrpSpPr>
          <p:cNvPr id="411" name="Google Shape;411;p25"/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412" name="Google Shape;412;p25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noFill/>
            <a:ln cap="sq" cmpd="sng" w="514350">
              <a:solidFill>
                <a:srgbClr val="FD6220">
                  <a:alpha val="11764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" name="Google Shape;413;p25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4" name="Google Shape;414;p25"/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33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IMPLEMENTATION SCREENSHOTS</a:t>
            </a:r>
            <a:endParaRPr b="1" i="0" sz="4800" u="none" cap="none" strike="noStrike">
              <a:solidFill>
                <a:srgbClr val="0033CC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15" name="Google Shape;415;p25"/>
          <p:cNvSpPr txBox="1"/>
          <p:nvPr/>
        </p:nvSpPr>
        <p:spPr>
          <a:xfrm>
            <a:off x="2209800" y="1638300"/>
            <a:ext cx="15082325" cy="526297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9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6" name="Google Shape;41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28051" y="1394121"/>
            <a:ext cx="8212823" cy="400391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Google Shape;417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21094" y="5728047"/>
            <a:ext cx="8109590" cy="38672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&#10;replace  the content with &quot;ADVANTAGES:&#10;&#10;Centralized Learning Hub: Seamlessly integrates document storage, subject tracking, and task management into one structured platform.&#10;AI-Powered Assistance (NEW): Integrates the Mistral AI API to provide a stateful, intelligent study tutor that helps answer questions and summarize concepts in real-time.&#10;Smart Study Tools: Revision Card Modals and direct document mapping provide a much more focused experience than generic file explorers.&#10;Professional Architecture: Built using robust, industry-standard technologies (Spring Boot, MySQL, Spring Security) ensuring high scalability and data safety.&#10;LIMITATIONS:&#10;&#10;Offline Access: The application currently requires an active server connection; offline mode with local data synchronization is not yet implemented.&#10;Limited Document Editing: While optimized for viewing PDFs and PPTs, the system does not currently support real-time editing of the original uploaded files within the browser.&#10;Platform Restriction: The system is currently designed as a responsive web application; a dedicated native mobile app (Android/iOS) is a planned future expansion.&quot; this content " id="422" name="Google Shape;42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1438" y="0"/>
            <a:ext cx="18430875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E"/>
        </a:solidFill>
      </p:bgPr>
    </p:bg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27"/>
          <p:cNvSpPr/>
          <p:nvPr/>
        </p:nvSpPr>
        <p:spPr>
          <a:xfrm>
            <a:off x="16313420" y="1028700"/>
            <a:ext cx="945880" cy="236470"/>
          </a:xfrm>
          <a:custGeom>
            <a:rect b="b" l="l" r="r" t="t"/>
            <a:pathLst>
              <a:path extrusionOk="0" h="236470" w="94588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8" name="Google Shape;428;p27"/>
          <p:cNvSpPr txBox="1"/>
          <p:nvPr/>
        </p:nvSpPr>
        <p:spPr>
          <a:xfrm>
            <a:off x="3200400" y="4486172"/>
            <a:ext cx="11159653" cy="13146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9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53"/>
              <a:buFont typeface="Arial"/>
              <a:buNone/>
            </a:pPr>
            <a:r>
              <a:rPr b="1" i="1" lang="en-US" sz="11153" u="none" cap="none" strike="noStrike">
                <a:solidFill>
                  <a:srgbClr val="191919"/>
                </a:solidFill>
                <a:latin typeface="Montserrat"/>
                <a:ea typeface="Montserrat"/>
                <a:cs typeface="Montserrat"/>
                <a:sym typeface="Montserrat"/>
              </a:rPr>
              <a:t>Thank you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9" name="Google Shape;429;p27"/>
          <p:cNvGrpSpPr/>
          <p:nvPr/>
        </p:nvGrpSpPr>
        <p:grpSpPr>
          <a:xfrm>
            <a:off x="16786360" y="-353712"/>
            <a:ext cx="10994424" cy="10994424"/>
            <a:chOff x="0" y="0"/>
            <a:chExt cx="812800" cy="812800"/>
          </a:xfrm>
        </p:grpSpPr>
        <p:sp>
          <p:nvSpPr>
            <p:cNvPr id="430" name="Google Shape;430;p27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noFill/>
            <a:ln cap="sq" cmpd="sng" w="619125">
              <a:solidFill>
                <a:srgbClr val="FD6220">
                  <a:alpha val="11764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p27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